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57" r:id="rId3"/>
    <p:sldId id="258" r:id="rId4"/>
    <p:sldId id="259" r:id="rId5"/>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(Rushi, ~30 s) Last One Awake is a 3D stealth game in the browser. It's 3 a.m., you're the cat, and you wreck the apartment before dawn. Every object is a rigid body, every crash makes noise, and noise wakes the owner, who then hunts you.</a:t>
            </a:r>
          </a:p>
          <a:p>
            <a:r>
              <a:rPr lang="en-US" dirty="0"/>
              <a:t>We are four, and each of us presents our own part: I do physics and dynamics, Dharm collision detection, Antara noise and the game loop, and Christina the owner's AI. The alpha is playable from the menu to caught or dawn, with 254 automated tests.</a:t>
            </a:r>
          </a:p>
          <a:p>
            <a:r>
              <a:rPr lang="en-US" dirty="0"/>
              <a:t>We go deep on two challenges: contacts you can trust, at rest and at speed (me, then Dharm), and how the owner hears the physics (Antara, then Christina).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(Rushi, ~70 s) My part is the physics. Every prop is a rigid body, and the test we committed to was five plates stacked with sleeping off for 60 seconds: under 2 mm of penetration and under 5 mm of drift.</a:t>
            </a:r>
          </a:p>
          <a:p>
            <a:r>
              <a:rPr lang="en-US" dirty="0"/>
              <a:t>Thin cylinders are the hardest case for an iterative solver: 12 contact points per pair, five layers, each carrying the weight above. cannon-es as shipped failed badly: the stack walks 130 mm in a minute, the red line. I traced three causes. Every step solves from zero, so 20 passes never carry the support to the bottom of a tall stack. Resting contact points flicker in and out. And its friction cap is a force applied to a per-step impulse, so at 120 Hz friction is 120 times too strong and mu does nothing.</a:t>
            </a:r>
          </a:p>
          <a:p>
            <a:r>
              <a:rPr lang="en-US" dirty="0"/>
              <a:t>So I replaced just the solve step, about 320 lines: warm starting from last step's impulse, a true Coulomb bound, the six outermost contact points per pair kept the same from step to step, and soft contacts for light props. Result: 0.02 mm of drift, the green line. Friction lands within 2% of v squared over 2 mu g, 13 plates hold for the full minute, and the cost is unchanged at 3.6 ms per step.</a:t>
            </a:r>
          </a:p>
          <a:p>
            <a:r>
              <a:rPr lang="en-US" dirty="0"/>
              <a:t>Trade-offs: soft contacts sink tens of microns, 14 plates still walk off, and a cat landing a full jump dips 1.6 cm for one frame. Dharm takes the other end: contacts at speed.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(Dharm, ~65 s) My part is the collision layer. Rushi's plates are contacts at rest; the other end is contacts at speed.</a:t>
            </a:r>
          </a:p>
          <a:p>
            <a:r>
              <a:rPr lang="en-US" dirty="0"/>
              <a:t>At 120 hertz, a mug swatted at 12 metres per second moves 10 centimetres per substep, five times the thickness of our 2 cm shelf. Discrete collision only looks at where the mug ends up. It lands past the middle of the shelf, so the solver pushes it out the far side: the left picture.</a:t>
            </a:r>
          </a:p>
          <a:p>
            <a:r>
              <a:rPr lang="en-US" dirty="0"/>
              <a:t>Continuous collision for every body would cost too much at 400 props, and clamping eagerly would make resting stacks jitter. So after every substep, each body that moved more than a centimetre is swept as a sphere from its old centre to its new one, against the static boxes. If it would really have crossed, it goes back to the first hit, 2 mm short, and loses its speed into the surface; next substep the narrowphase resolves the contact from the right side. It clamps only when discrete collision would actually fail, so sliding props and resting stacks are untouched.</a:t>
            </a:r>
          </a:p>
          <a:p>
            <a:r>
              <a:rPr lang="en-US" dirty="0"/>
              <a:t>Results, with the game's real swat: 22 of 100 swats pass through without the guard and none with it, the first failure moves from 12 metres per second to over 100, and on the resting stack it clamps zero times. The grid broadphase hands the narrowphase 270 pairs instead of 1,454 at 400 bodies, 6.2 instead of 8 ms a step, and its ray queries are what the owner sees with.</a:t>
            </a:r>
          </a:p>
          <a:p>
            <a:r>
              <a:rPr lang="en-US" dirty="0"/>
              <a:t>Trade-off: only static geometry is guarded, so two fast props can still pass through each other. Antara now shows how all these contacts become noise.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(Antara, ~40 s) My workstream is the game loop, the HUD and noise. The owner can't simply listen to the solver: every resting contact pushes on every step, and one crash is dozens of contact points. So after each solve we keep only new contacts and sum the impulse per pair of bodies.</a:t>
            </a:r>
          </a:p>
          <a:p>
            <a:r>
              <a:rPr lang="en-US" dirty="0"/>
              <a:t>Loudness is the material pair's loudness times the log of that impulse, the model from my MVP: ceramic rings, paper thuds, and the cat's paws are padded. It falls off with distance to his head and fills a wake meter that drains slowly after two seconds of quiet. The coupling proof passes: the same swat, a mug into a wall, sits him up from beside the bed at 0.55 and leaves him asleep from the far wall at 0.10. Christina?</a:t>
            </a:r>
          </a:p>
          <a:p>
            <a:r>
              <a:rPr lang="en-US" dirty="0"/>
              <a:t>(Christina, ~50 s) My part is the owner's AI. The wake meter drives my state machine through five stages: asleep, stirring at 0.2, sitting up at 0.45, standing at 0.7 and awake at 0.85, so he wakes gradually instead of flipping on.</a:t>
            </a:r>
          </a:p>
          <a:p>
            <a:r>
              <a:rPr lang="en-US" dirty="0"/>
              <a:t>A behaviour tree picks his action: stirring or sitting up with a noise, he investigates; standing with a loud noise, he searches; otherwise he checks the hiding spots; and once it is quiet he goes back to bed.</a:t>
            </a:r>
          </a:p>
          <a:p>
            <a:r>
              <a:rPr lang="en-US" dirty="0"/>
              <a:t>In the game he walks A* paths between 12 waypoints and sees with a view cone confirmed by Dharm's line-of-sight rays, so under the bed the skirt hides you, but under the desk he kneels and sees you. Limits: the stages don't step back down yet as he calms, which the game works around, and under the bed is always safe for now.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320"/>
        </a:solidFill>
        <a:effectLst/>
      </p:bgPr>
    </p:bg>
    <p:spTree>
      <p:nvGrpSpPr>
        <p:cNvPr id="1" name=""/>
        <p:cNvGrpSpPr/>
        <p:nvPr/>
      </p:nvGrpSpPr>
      <p:grpSpPr>
        <a:xfrm>
          <a:off x="0" y="0"/>
          <a:ext cx="0" cy="0"/>
          <a:chOff x="0" y="0"/>
          <a:chExt cx="0" cy="0"/>
        </a:xfrm>
      </p:grpSpPr>
      <p:sp>
        <p:nvSpPr>
          <p:cNvPr id="2" name="Text 2"/>
          <p:cNvSpPr txBox="1"/>
          <p:nvPr/>
        </p:nvSpPr>
        <p:spPr>
          <a:xfrm>
            <a:off x="411480" y="292608"/>
            <a:ext cx="8321040" cy="256032"/>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spc="150" dirty="0">
                <a:solidFill>
                  <a:srgbClr val="F0A646"/>
                </a:solidFill>
                <a:latin typeface="Arial"/>
                <a:cs typeface="Arial"/>
              </a:rPr>
              <a:t>CS 549 · MID-CRIT · OCT 29, 2026</a:t>
            </a:r>
            <a:endParaRPr lang="en-US" sz="1000" dirty="0"/>
          </a:p>
        </p:txBody>
      </p:sp>
      <p:sp>
        <p:nvSpPr>
          <p:cNvPr id="3" name="Text 3"/>
          <p:cNvSpPr txBox="1"/>
          <p:nvPr/>
        </p:nvSpPr>
        <p:spPr>
          <a:xfrm>
            <a:off x="411480" y="530352"/>
            <a:ext cx="8321040" cy="68580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3800" b="1" dirty="0">
                <a:solidFill>
                  <a:srgbClr val="F6E6CB"/>
                </a:solidFill>
                <a:latin typeface="Georgia"/>
                <a:cs typeface="Georgia"/>
              </a:rPr>
              <a:t>Last One Awake</a:t>
            </a:r>
            <a:endParaRPr lang="en-US" sz="3800" dirty="0"/>
          </a:p>
        </p:txBody>
      </p:sp>
      <p:sp>
        <p:nvSpPr>
          <p:cNvPr id="4" name="Text 4"/>
          <p:cNvSpPr txBox="1"/>
          <p:nvPr/>
        </p:nvSpPr>
        <p:spPr>
          <a:xfrm>
            <a:off x="411480" y="1216152"/>
            <a:ext cx="8321040" cy="493776"/>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400" b="0" i="1" dirty="0">
                <a:solidFill>
                  <a:srgbClr val="B9AFA3"/>
                </a:solidFill>
                <a:latin typeface="Arial"/>
                <a:cs typeface="Arial"/>
              </a:rPr>
              <a:t>It's 3 a.m. and you're the cat: wreck the apartment before dawn. But every crash is noise, and noise wakes the owner.</a:t>
            </a:r>
            <a:endParaRPr lang="en-US" sz="1400" dirty="0"/>
          </a:p>
        </p:txBody>
      </p:sp>
      <p:pic>
        <p:nvPicPr>
          <p:cNvPr id="5" name="Picture 5" descr="game-smash.jpg"/>
          <p:cNvPicPr>
            <a:picLocks noChangeAspect="1"/>
          </p:cNvPicPr>
          <p:nvPr/>
        </p:nvPicPr>
        <p:blipFill>
          <a:blip r:embed="rId3"/>
          <a:stretch>
            <a:fillRect/>
          </a:stretch>
        </p:blipFill>
        <p:spPr>
          <a:xfrm>
            <a:off x="411480" y="1783080"/>
            <a:ext cx="5120640" cy="2880360"/>
          </a:xfrm>
          <a:prstGeom prst="rect">
            <a:avLst/>
          </a:prstGeom>
          <a:ln w="9525">
            <a:solidFill>
              <a:srgbClr val="3A3346"/>
            </a:solidFill>
          </a:ln>
        </p:spPr>
      </p:pic>
      <p:sp>
        <p:nvSpPr>
          <p:cNvPr id="6" name="Card 6"/>
          <p:cNvSpPr/>
          <p:nvPr/>
        </p:nvSpPr>
        <p:spPr>
          <a:xfrm>
            <a:off x="5760720" y="1783080"/>
            <a:ext cx="2971800" cy="658368"/>
          </a:xfrm>
          <a:prstGeom prst="roundRect">
            <a:avLst>
              <a:gd name="adj" fmla="val 7000"/>
            </a:avLst>
          </a:prstGeom>
          <a:solidFill>
            <a:srgbClr val="221D2E"/>
          </a:solidFill>
          <a:ln w="9525">
            <a:solidFill>
              <a:srgbClr val="3A3346"/>
            </a:solidFill>
          </a:ln>
        </p:spPr>
        <p:txBody>
          <a:bodyPr wrap="square" lIns="100584" tIns="100584" rIns="100584" bIns="100584" anchor="ctr">
            <a:noAutofit/>
          </a:bodyPr>
          <a:lstStyle/>
          <a:p>
            <a:pPr marL="0" indent="0" algn="l">
              <a:lnSpc>
                <a:spcPct val="100000"/>
              </a:lnSpc>
              <a:spcBef>
                <a:spcPts val="0"/>
              </a:spcBef>
              <a:spcAft>
                <a:spcPts val="200"/>
              </a:spcAft>
              <a:buNone/>
            </a:pPr>
            <a:r>
              <a:rPr lang="en-US" sz="900" b="1" spc="100" dirty="0">
                <a:solidFill>
                  <a:srgbClr val="F0A646"/>
                </a:solidFill>
                <a:latin typeface="Arial"/>
                <a:cs typeface="Arial"/>
              </a:rPr>
              <a:t>PHYSICS &amp; DYNAMICS · RUSHI</a:t>
            </a:r>
            <a:endParaRPr lang="en-US" sz="900" dirty="0"/>
          </a:p>
          <a:p>
            <a:pPr marL="0" indent="0" algn="l">
              <a:lnSpc>
                <a:spcPct val="100000"/>
              </a:lnSpc>
              <a:spcBef>
                <a:spcPts val="0"/>
              </a:spcBef>
              <a:spcAft>
                <a:spcPts val="0"/>
              </a:spcAft>
              <a:buNone/>
            </a:pPr>
            <a:r>
              <a:rPr lang="en-US" sz="1050" b="0" dirty="0">
                <a:solidFill>
                  <a:srgbClr val="E9DCC8"/>
                </a:solidFill>
                <a:latin typeface="Arial"/>
                <a:cs typeface="Arial"/>
              </a:rPr>
              <a:t>Our own contact solver, props, the cat.</a:t>
            </a:r>
            <a:endParaRPr lang="en-US" sz="1050" dirty="0"/>
          </a:p>
        </p:txBody>
      </p:sp>
      <p:sp>
        <p:nvSpPr>
          <p:cNvPr id="7" name="Card 7"/>
          <p:cNvSpPr/>
          <p:nvPr/>
        </p:nvSpPr>
        <p:spPr>
          <a:xfrm>
            <a:off x="5760720" y="2523744"/>
            <a:ext cx="2971800" cy="658368"/>
          </a:xfrm>
          <a:prstGeom prst="roundRect">
            <a:avLst>
              <a:gd name="adj" fmla="val 7000"/>
            </a:avLst>
          </a:prstGeom>
          <a:solidFill>
            <a:srgbClr val="221D2E"/>
          </a:solidFill>
          <a:ln w="9525">
            <a:solidFill>
              <a:srgbClr val="3A3346"/>
            </a:solidFill>
          </a:ln>
        </p:spPr>
        <p:txBody>
          <a:bodyPr wrap="square" lIns="100584" tIns="100584" rIns="100584" bIns="100584" anchor="ctr">
            <a:noAutofit/>
          </a:bodyPr>
          <a:lstStyle/>
          <a:p>
            <a:pPr marL="0" indent="0" algn="l">
              <a:lnSpc>
                <a:spcPct val="100000"/>
              </a:lnSpc>
              <a:spcBef>
                <a:spcPts val="0"/>
              </a:spcBef>
              <a:spcAft>
                <a:spcPts val="200"/>
              </a:spcAft>
              <a:buNone/>
            </a:pPr>
            <a:r>
              <a:rPr lang="en-US" sz="900" b="1" spc="100" dirty="0">
                <a:solidFill>
                  <a:srgbClr val="F0A646"/>
                </a:solidFill>
                <a:latin typeface="Arial"/>
                <a:cs typeface="Arial"/>
              </a:rPr>
              <a:t>COLLISION DETECTION · DHARM</a:t>
            </a:r>
            <a:endParaRPr lang="en-US" sz="900" dirty="0"/>
          </a:p>
          <a:p>
            <a:pPr marL="0" indent="0" algn="l">
              <a:lnSpc>
                <a:spcPct val="100000"/>
              </a:lnSpc>
              <a:spcBef>
                <a:spcPts val="0"/>
              </a:spcBef>
              <a:spcAft>
                <a:spcPts val="0"/>
              </a:spcAft>
              <a:buNone/>
            </a:pPr>
            <a:r>
              <a:rPr lang="en-US" sz="1050" b="0" dirty="0">
                <a:solidFill>
                  <a:srgbClr val="E9DCC8"/>
                </a:solidFill>
                <a:latin typeface="Arial"/>
                <a:cs typeface="Arial"/>
              </a:rPr>
              <a:t>Grid broadphase, tunneling guard, rays.</a:t>
            </a:r>
            <a:endParaRPr lang="en-US" sz="1050" dirty="0"/>
          </a:p>
        </p:txBody>
      </p:sp>
      <p:sp>
        <p:nvSpPr>
          <p:cNvPr id="8" name="Card 8"/>
          <p:cNvSpPr/>
          <p:nvPr/>
        </p:nvSpPr>
        <p:spPr>
          <a:xfrm>
            <a:off x="5760720" y="3264408"/>
            <a:ext cx="2971800" cy="658368"/>
          </a:xfrm>
          <a:prstGeom prst="roundRect">
            <a:avLst>
              <a:gd name="adj" fmla="val 7000"/>
            </a:avLst>
          </a:prstGeom>
          <a:solidFill>
            <a:srgbClr val="221D2E"/>
          </a:solidFill>
          <a:ln w="9525">
            <a:solidFill>
              <a:srgbClr val="3A3346"/>
            </a:solidFill>
          </a:ln>
        </p:spPr>
        <p:txBody>
          <a:bodyPr wrap="square" lIns="100584" tIns="100584" rIns="100584" bIns="100584" anchor="ctr">
            <a:noAutofit/>
          </a:bodyPr>
          <a:lstStyle/>
          <a:p>
            <a:pPr marL="0" indent="0" algn="l">
              <a:lnSpc>
                <a:spcPct val="100000"/>
              </a:lnSpc>
              <a:spcBef>
                <a:spcPts val="0"/>
              </a:spcBef>
              <a:spcAft>
                <a:spcPts val="200"/>
              </a:spcAft>
              <a:buNone/>
            </a:pPr>
            <a:r>
              <a:rPr lang="en-US" sz="900" b="1" spc="100" dirty="0">
                <a:solidFill>
                  <a:srgbClr val="F0A646"/>
                </a:solidFill>
                <a:latin typeface="Arial"/>
                <a:cs typeface="Arial"/>
              </a:rPr>
              <a:t>NOISE &amp; GAME LOOP · ANTARA</a:t>
            </a:r>
            <a:endParaRPr lang="en-US" sz="900" dirty="0"/>
          </a:p>
          <a:p>
            <a:pPr marL="0" indent="0" algn="l">
              <a:lnSpc>
                <a:spcPct val="100000"/>
              </a:lnSpc>
              <a:spcBef>
                <a:spcPts val="0"/>
              </a:spcBef>
              <a:spcAft>
                <a:spcPts val="0"/>
              </a:spcAft>
              <a:buNone/>
            </a:pPr>
            <a:r>
              <a:rPr lang="en-US" sz="1050" b="0" dirty="0">
                <a:solidFill>
                  <a:srgbClr val="E9DCC8"/>
                </a:solidFill>
                <a:latin typeface="Arial"/>
                <a:cs typeface="Arial"/>
              </a:rPr>
              <a:t>Impulses become noise; menu and HUD.</a:t>
            </a:r>
            <a:endParaRPr lang="en-US" sz="1050" dirty="0"/>
          </a:p>
        </p:txBody>
      </p:sp>
      <p:sp>
        <p:nvSpPr>
          <p:cNvPr id="9" name="Card 9"/>
          <p:cNvSpPr/>
          <p:nvPr/>
        </p:nvSpPr>
        <p:spPr>
          <a:xfrm>
            <a:off x="5760720" y="4005072"/>
            <a:ext cx="2971800" cy="658368"/>
          </a:xfrm>
          <a:prstGeom prst="roundRect">
            <a:avLst>
              <a:gd name="adj" fmla="val 7000"/>
            </a:avLst>
          </a:prstGeom>
          <a:solidFill>
            <a:srgbClr val="221D2E"/>
          </a:solidFill>
          <a:ln w="9525">
            <a:solidFill>
              <a:srgbClr val="3A3346"/>
            </a:solidFill>
          </a:ln>
        </p:spPr>
        <p:txBody>
          <a:bodyPr wrap="square" lIns="100584" tIns="100584" rIns="100584" bIns="100584" anchor="ctr">
            <a:noAutofit/>
          </a:bodyPr>
          <a:lstStyle/>
          <a:p>
            <a:pPr marL="0" indent="0" algn="l">
              <a:lnSpc>
                <a:spcPct val="100000"/>
              </a:lnSpc>
              <a:spcBef>
                <a:spcPts val="0"/>
              </a:spcBef>
              <a:spcAft>
                <a:spcPts val="200"/>
              </a:spcAft>
              <a:buNone/>
            </a:pPr>
            <a:r>
              <a:rPr lang="en-US" sz="900" b="1" spc="100" dirty="0">
                <a:solidFill>
                  <a:srgbClr val="F0A646"/>
                </a:solidFill>
                <a:latin typeface="Arial"/>
                <a:cs typeface="Arial"/>
              </a:rPr>
              <a:t>NPC AI · CHRISTINA</a:t>
            </a:r>
            <a:endParaRPr lang="en-US" sz="900" dirty="0"/>
          </a:p>
          <a:p>
            <a:pPr marL="0" indent="0" algn="l">
              <a:lnSpc>
                <a:spcPct val="100000"/>
              </a:lnSpc>
              <a:spcBef>
                <a:spcPts val="0"/>
              </a:spcBef>
              <a:spcAft>
                <a:spcPts val="0"/>
              </a:spcAft>
              <a:buNone/>
            </a:pPr>
            <a:r>
              <a:rPr lang="en-US" sz="1050" b="0" dirty="0">
                <a:solidFill>
                  <a:srgbClr val="E9DCC8"/>
                </a:solidFill>
                <a:latin typeface="Arial"/>
                <a:cs typeface="Arial"/>
              </a:rPr>
              <a:t>Wake stages, behaviour tree, sight.</a:t>
            </a:r>
            <a:endParaRPr lang="en-US" sz="1050" dirty="0"/>
          </a:p>
        </p:txBody>
      </p:sp>
      <p:sp>
        <p:nvSpPr>
          <p:cNvPr id="10" name="Text 10"/>
          <p:cNvSpPr txBox="1"/>
          <p:nvPr/>
        </p:nvSpPr>
        <p:spPr>
          <a:xfrm>
            <a:off x="411480" y="4773168"/>
            <a:ext cx="5212080" cy="20116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900" b="0" dirty="0">
                <a:solidFill>
                  <a:srgbClr val="B9AFA3"/>
                </a:solidFill>
                <a:latin typeface="Arial"/>
                <a:cs typeface="Arial"/>
              </a:rPr>
              <a:t>Progress: a playable alpha, from the menu to caught or dawn · 254 automated tests</a:t>
            </a:r>
            <a:endParaRPr lang="en-US" sz="900" dirty="0"/>
          </a:p>
        </p:txBody>
      </p:sp>
      <p:sp>
        <p:nvSpPr>
          <p:cNvPr id="11" name="Text 11"/>
          <p:cNvSpPr txBox="1"/>
          <p:nvPr/>
        </p:nvSpPr>
        <p:spPr>
          <a:xfrm>
            <a:off x="5669280" y="4773168"/>
            <a:ext cx="3063240" cy="201168"/>
          </a:xfrm>
          <a:prstGeom prst="rect">
            <a:avLst/>
          </a:prstGeom>
          <a:noFill/>
        </p:spPr>
        <p:txBody>
          <a:bodyPr wrap="square" lIns="0" tIns="0" rIns="0" bIns="0" anchor="t">
            <a:noAutofit/>
          </a:bodyPr>
          <a:lstStyle/>
          <a:p>
            <a:pPr marL="0" indent="0" algn="r">
              <a:lnSpc>
                <a:spcPct val="100000"/>
              </a:lnSpc>
              <a:spcBef>
                <a:spcPts val="0"/>
              </a:spcBef>
              <a:spcAft>
                <a:spcPts val="0"/>
              </a:spcAft>
              <a:buNone/>
            </a:pPr>
            <a:r>
              <a:rPr lang="en-US" sz="900" b="0" dirty="0">
                <a:solidFill>
                  <a:srgbClr val="B9AFA3"/>
                </a:solidFill>
                <a:latin typeface="Arial"/>
                <a:cs typeface="Arial"/>
              </a:rPr>
              <a:t>Three.js + cannon-es in the browser, no engine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1320"/>
        </a:solidFill>
        <a:effectLst/>
      </p:bgPr>
    </p:bg>
    <p:spTree>
      <p:nvGrpSpPr>
        <p:cNvPr id="1" name=""/>
        <p:cNvGrpSpPr/>
        <p:nvPr/>
      </p:nvGrpSpPr>
      <p:grpSpPr>
        <a:xfrm>
          <a:off x="0" y="0"/>
          <a:ext cx="0" cy="0"/>
          <a:chOff x="0" y="0"/>
          <a:chExt cx="0" cy="0"/>
        </a:xfrm>
      </p:grpSpPr>
      <p:sp>
        <p:nvSpPr>
          <p:cNvPr id="2" name="Text 2"/>
          <p:cNvSpPr txBox="1"/>
          <p:nvPr/>
        </p:nvSpPr>
        <p:spPr>
          <a:xfrm>
            <a:off x="411480" y="292608"/>
            <a:ext cx="8321040" cy="256032"/>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spc="150" dirty="0">
                <a:solidFill>
                  <a:srgbClr val="F0A646"/>
                </a:solidFill>
                <a:latin typeface="Arial"/>
                <a:cs typeface="Arial"/>
              </a:rPr>
              <a:t>CHALLENGE 1 · CONTACTS AT REST · RUSHI PATEL</a:t>
            </a:r>
            <a:endParaRPr lang="en-US" sz="1000" dirty="0"/>
          </a:p>
        </p:txBody>
      </p:sp>
      <p:sp>
        <p:nvSpPr>
          <p:cNvPr id="3" name="Text 3"/>
          <p:cNvSpPr txBox="1"/>
          <p:nvPr/>
        </p:nvSpPr>
        <p:spPr>
          <a:xfrm>
            <a:off x="411480" y="530352"/>
            <a:ext cx="8321040" cy="56692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3000" b="1" dirty="0">
                <a:solidFill>
                  <a:srgbClr val="F6E6CB"/>
                </a:solidFill>
                <a:latin typeface="Georgia"/>
                <a:cs typeface="Georgia"/>
              </a:rPr>
              <a:t>Five plates that stand still</a:t>
            </a:r>
            <a:endParaRPr lang="en-US" sz="3000" dirty="0"/>
          </a:p>
        </p:txBody>
      </p:sp>
      <p:sp>
        <p:nvSpPr>
          <p:cNvPr id="4" name="Text 4"/>
          <p:cNvSpPr txBox="1"/>
          <p:nvPr/>
        </p:nvSpPr>
        <p:spPr>
          <a:xfrm>
            <a:off x="411480" y="1207008"/>
            <a:ext cx="3977640" cy="3429000"/>
          </a:xfrm>
          <a:prstGeom prst="rect">
            <a:avLst/>
          </a:prstGeom>
          <a:noFill/>
        </p:spPr>
        <p:txBody>
          <a:bodyPr wrap="square" lIns="0" tIns="0" rIns="0" bIns="0" anchor="t">
            <a:noAutofit/>
          </a:bodyPr>
          <a:lstStyle/>
          <a:p>
            <a:pPr marL="0" indent="0" algn="l">
              <a:lnSpc>
                <a:spcPct val="100000"/>
              </a:lnSpc>
              <a:spcBef>
                <a:spcPts val="0"/>
              </a:spcBef>
              <a:spcAft>
                <a:spcPts val="600"/>
              </a:spcAft>
              <a:buNone/>
            </a:pPr>
            <a:r>
              <a:rPr lang="en-US" sz="1100" b="1" dirty="0">
                <a:solidFill>
                  <a:srgbClr val="E9DCC8"/>
                </a:solidFill>
                <a:latin typeface="Arial"/>
                <a:cs typeface="Arial"/>
              </a:rPr>
              <a:t>The proof: </a:t>
            </a:r>
            <a:r>
              <a:rPr lang="en-US" sz="1100" b="0" dirty="0">
                <a:solidFill>
                  <a:srgbClr val="E9DCC8"/>
                </a:solidFill>
                <a:latin typeface="Arial"/>
                <a:cs typeface="Arial"/>
              </a:rPr>
              <a:t>five plates, sleeping off, 60 s. Pass: penetration under 2 mm, no plate drifts 5 mm.</a:t>
            </a:r>
            <a:endParaRPr lang="en-US" sz="1100" dirty="0"/>
          </a:p>
          <a:p>
            <a:pPr marL="0" indent="0" algn="l">
              <a:lnSpc>
                <a:spcPct val="100000"/>
              </a:lnSpc>
              <a:spcBef>
                <a:spcPts val="0"/>
              </a:spcBef>
              <a:spcAft>
                <a:spcPts val="800"/>
              </a:spcAft>
              <a:buNone/>
            </a:pPr>
            <a:r>
              <a:rPr lang="en-US" sz="1050" b="1" dirty="0">
                <a:solidFill>
                  <a:srgbClr val="F0A646"/>
                </a:solidFill>
                <a:latin typeface="Arial"/>
                <a:cs typeface="Arial"/>
              </a:rPr>
              <a:t>Why it's hard: </a:t>
            </a:r>
            <a:r>
              <a:rPr lang="en-US" sz="1050" b="0" dirty="0">
                <a:solidFill>
                  <a:srgbClr val="E9DCC8"/>
                </a:solidFill>
                <a:latin typeface="Arial"/>
                <a:cs typeface="Arial"/>
              </a:rPr>
              <a:t>12 contact points per plate pair, five layers each carrying the weight above, and no sleeping to hide jitter.</a:t>
            </a:r>
            <a:endParaRPr lang="en-US" sz="1050" dirty="0"/>
          </a:p>
          <a:p>
            <a:pPr marL="0" indent="0" algn="l">
              <a:lnSpc>
                <a:spcPct val="100000"/>
              </a:lnSpc>
              <a:spcBef>
                <a:spcPts val="0"/>
              </a:spcBef>
              <a:spcAft>
                <a:spcPts val="200"/>
              </a:spcAft>
              <a:buNone/>
            </a:pPr>
            <a:r>
              <a:rPr lang="en-US" sz="1100" b="1" dirty="0">
                <a:solidFill>
                  <a:srgbClr val="EF6A4A"/>
                </a:solidFill>
                <a:latin typeface="Arial"/>
                <a:cs typeface="Arial"/>
              </a:rPr>
              <a:t>cannon-es as shipped: the stack walks 130 mm</a:t>
            </a:r>
            <a:endParaRPr lang="en-US" sz="1100" dirty="0"/>
          </a:p>
          <a:p>
            <a:pPr marL="228600" indent="-228600" algn="l">
              <a:lnSpc>
                <a:spcPct val="100000"/>
              </a:lnSpc>
              <a:spcBef>
                <a:spcPts val="0"/>
              </a:spcBef>
              <a:spcAft>
                <a:spcPts val="200"/>
              </a:spcAft>
              <a:buClr>
                <a:srgbClr val="F0A646"/>
              </a:buClr>
              <a:buFont typeface="Arial"/>
              <a:buAutoNum type="arabicPeriod"/>
            </a:pPr>
            <a:r>
              <a:rPr lang="en-US" sz="1050" b="1" dirty="0">
                <a:solidFill>
                  <a:srgbClr val="E9DCC8"/>
                </a:solidFill>
                <a:latin typeface="Arial"/>
                <a:cs typeface="Arial"/>
              </a:rPr>
              <a:t>Cold start. </a:t>
            </a:r>
            <a:r>
              <a:rPr lang="en-US" sz="1050" b="0" dirty="0">
                <a:solidFill>
                  <a:srgbClr val="E9DCC8"/>
                </a:solidFill>
                <a:latin typeface="Arial"/>
                <a:cs typeface="Arial"/>
              </a:rPr>
              <a:t>Each step solves from zero; 20 passes never reach the bottom of a tall stack.</a:t>
            </a:r>
            <a:endParaRPr lang="en-US" sz="1050" dirty="0"/>
          </a:p>
          <a:p>
            <a:pPr marL="228600" indent="-228600" algn="l">
              <a:lnSpc>
                <a:spcPct val="100000"/>
              </a:lnSpc>
              <a:spcBef>
                <a:spcPts val="0"/>
              </a:spcBef>
              <a:spcAft>
                <a:spcPts val="200"/>
              </a:spcAft>
              <a:buClr>
                <a:srgbClr val="F0A646"/>
              </a:buClr>
              <a:buFont typeface="Arial"/>
              <a:buAutoNum type="arabicPeriod"/>
            </a:pPr>
            <a:r>
              <a:rPr lang="en-US" sz="1050" b="1" dirty="0">
                <a:solidFill>
                  <a:srgbClr val="E9DCC8"/>
                </a:solidFill>
                <a:latin typeface="Arial"/>
                <a:cs typeface="Arial"/>
              </a:rPr>
              <a:t>Flicker. </a:t>
            </a:r>
            <a:r>
              <a:rPr lang="en-US" sz="1050" b="0" dirty="0">
                <a:solidFill>
                  <a:srgbClr val="E9DCC8"/>
                </a:solidFill>
                <a:latin typeface="Arial"/>
                <a:cs typeface="Arial"/>
              </a:rPr>
              <a:t>Resting contacts come and go between steps.</a:t>
            </a:r>
            <a:endParaRPr lang="en-US" sz="1050" dirty="0"/>
          </a:p>
          <a:p>
            <a:pPr marL="228600" indent="-228600" algn="l">
              <a:lnSpc>
                <a:spcPct val="100000"/>
              </a:lnSpc>
              <a:spcBef>
                <a:spcPts val="0"/>
              </a:spcBef>
              <a:spcAft>
                <a:spcPts val="800"/>
              </a:spcAft>
              <a:buClr>
                <a:srgbClr val="F0A646"/>
              </a:buClr>
              <a:buFont typeface="Arial"/>
              <a:buAutoNum type="arabicPeriod"/>
            </a:pPr>
            <a:r>
              <a:rPr lang="en-US" sz="1050" b="1" dirty="0">
                <a:solidFill>
                  <a:srgbClr val="E9DCC8"/>
                </a:solidFill>
                <a:latin typeface="Arial"/>
                <a:cs typeface="Arial"/>
              </a:rPr>
              <a:t>Friction 120× too strong. </a:t>
            </a:r>
            <a:r>
              <a:rPr lang="en-US" sz="1050" b="0" dirty="0">
                <a:solidFill>
                  <a:srgbClr val="E9DCC8"/>
                </a:solidFill>
                <a:latin typeface="Arial"/>
                <a:cs typeface="Arial"/>
              </a:rPr>
              <a:t>Its force cap μ·m·g is applied to a per-step impulse, so μ does nothing.</a:t>
            </a:r>
            <a:endParaRPr lang="en-US" sz="1050" dirty="0"/>
          </a:p>
          <a:p>
            <a:pPr marL="0" indent="0" algn="l">
              <a:lnSpc>
                <a:spcPct val="100000"/>
              </a:lnSpc>
              <a:spcBef>
                <a:spcPts val="0"/>
              </a:spcBef>
              <a:spcAft>
                <a:spcPts val="200"/>
              </a:spcAft>
              <a:buNone/>
            </a:pPr>
            <a:r>
              <a:rPr lang="en-US" sz="1100" b="1" dirty="0">
                <a:solidFill>
                  <a:srgbClr val="F0A646"/>
                </a:solidFill>
                <a:latin typeface="Arial"/>
                <a:cs typeface="Arial"/>
              </a:rPr>
              <a:t>Our solve step, about 320 lines</a:t>
            </a:r>
            <a:endParaRPr lang="en-US" sz="1100" dirty="0"/>
          </a:p>
          <a:p>
            <a:pPr marL="171450" indent="-171450" algn="l">
              <a:lnSpc>
                <a:spcPct val="100000"/>
              </a:lnSpc>
              <a:spcBef>
                <a:spcPts val="0"/>
              </a:spcBef>
              <a:spcAft>
                <a:spcPts val="200"/>
              </a:spcAft>
              <a:buClr>
                <a:srgbClr val="F0A646"/>
              </a:buClr>
              <a:buFont typeface="Arial"/>
              <a:buChar char="•"/>
            </a:pPr>
            <a:r>
              <a:rPr lang="en-US" sz="1050" b="1" dirty="0">
                <a:solidFill>
                  <a:srgbClr val="E9DCC8"/>
                </a:solidFill>
                <a:latin typeface="Arial"/>
                <a:cs typeface="Arial"/>
              </a:rPr>
              <a:t>Warm start: </a:t>
            </a:r>
            <a:r>
              <a:rPr lang="en-US" sz="1050" b="0" dirty="0">
                <a:solidFill>
                  <a:srgbClr val="E9DCC8"/>
                </a:solidFill>
                <a:latin typeface="Arial"/>
                <a:cs typeface="Arial"/>
              </a:rPr>
              <a:t>each contact begins from last step's impulse.</a:t>
            </a:r>
            <a:endParaRPr lang="en-US" sz="1050" dirty="0"/>
          </a:p>
          <a:p>
            <a:pPr marL="171450" indent="-171450" algn="l">
              <a:lnSpc>
                <a:spcPct val="100000"/>
              </a:lnSpc>
              <a:spcBef>
                <a:spcPts val="0"/>
              </a:spcBef>
              <a:spcAft>
                <a:spcPts val="200"/>
              </a:spcAft>
              <a:buClr>
                <a:srgbClr val="F0A646"/>
              </a:buClr>
              <a:buFont typeface="Arial"/>
              <a:buChar char="•"/>
            </a:pPr>
            <a:r>
              <a:rPr lang="en-US" sz="1050" b="1" dirty="0">
                <a:solidFill>
                  <a:srgbClr val="E9DCC8"/>
                </a:solidFill>
                <a:latin typeface="Arial"/>
                <a:cs typeface="Arial"/>
              </a:rPr>
              <a:t>Coulomb bound: </a:t>
            </a:r>
            <a:r>
              <a:rPr lang="en-US" sz="1050" b="0" dirty="0">
                <a:solidFill>
                  <a:srgbClr val="E9DCC8"/>
                </a:solidFill>
                <a:latin typeface="Arial"/>
                <a:cs typeface="Arial"/>
              </a:rPr>
              <a:t>friction ≤ μ × this step's normal impulse.</a:t>
            </a:r>
            <a:endParaRPr lang="en-US" sz="1050" dirty="0"/>
          </a:p>
          <a:p>
            <a:pPr marL="171450" indent="-171450" algn="l">
              <a:lnSpc>
                <a:spcPct val="100000"/>
              </a:lnSpc>
              <a:spcBef>
                <a:spcPts val="0"/>
              </a:spcBef>
              <a:spcAft>
                <a:spcPts val="200"/>
              </a:spcAft>
              <a:buClr>
                <a:srgbClr val="F0A646"/>
              </a:buClr>
              <a:buFont typeface="Arial"/>
              <a:buChar char="•"/>
            </a:pPr>
            <a:r>
              <a:rPr lang="en-US" sz="1050" b="1" dirty="0">
                <a:solidFill>
                  <a:srgbClr val="E9DCC8"/>
                </a:solidFill>
                <a:latin typeface="Arial"/>
                <a:cs typeface="Arial"/>
              </a:rPr>
              <a:t>Contact reduction: </a:t>
            </a:r>
            <a:r>
              <a:rPr lang="en-US" sz="1050" b="0" dirty="0">
                <a:solidFill>
                  <a:srgbClr val="E9DCC8"/>
                </a:solidFill>
                <a:latin typeface="Arial"/>
                <a:cs typeface="Arial"/>
              </a:rPr>
              <a:t>the six outermost points per pair.</a:t>
            </a:r>
            <a:endParaRPr lang="en-US" sz="1050" dirty="0"/>
          </a:p>
          <a:p>
            <a:pPr marL="171450" indent="-171450" algn="l">
              <a:lnSpc>
                <a:spcPct val="100000"/>
              </a:lnSpc>
              <a:spcBef>
                <a:spcPts val="0"/>
              </a:spcBef>
              <a:spcAft>
                <a:spcPts val="0"/>
              </a:spcAft>
              <a:buClr>
                <a:srgbClr val="F0A646"/>
              </a:buClr>
              <a:buFont typeface="Arial"/>
              <a:buChar char="•"/>
            </a:pPr>
            <a:r>
              <a:rPr lang="en-US" sz="1050" b="1" dirty="0">
                <a:solidFill>
                  <a:srgbClr val="E9DCC8"/>
                </a:solidFill>
                <a:latin typeface="Arial"/>
                <a:cs typeface="Arial"/>
              </a:rPr>
              <a:t>Soft contacts </a:t>
            </a:r>
            <a:r>
              <a:rPr lang="en-US" sz="1050" b="0" dirty="0">
                <a:solidFill>
                  <a:srgbClr val="E9DCC8"/>
                </a:solidFill>
                <a:latin typeface="Arial"/>
                <a:cs typeface="Arial"/>
              </a:rPr>
              <a:t>for light props, spawned 10 µm compressed.</a:t>
            </a:r>
            <a:endParaRPr lang="en-US" sz="1050" dirty="0"/>
          </a:p>
        </p:txBody>
      </p:sp>
      <p:pic>
        <p:nvPicPr>
          <p:cNvPr id="5" name="Picture 5" descr="drift-chart.png"/>
          <p:cNvPicPr>
            <a:picLocks noChangeAspect="1"/>
          </p:cNvPicPr>
          <p:nvPr/>
        </p:nvPicPr>
        <p:blipFill>
          <a:blip r:embed="rId3"/>
          <a:stretch>
            <a:fillRect/>
          </a:stretch>
        </p:blipFill>
        <p:spPr>
          <a:xfrm>
            <a:off x="4572000" y="1188720"/>
            <a:ext cx="4160520" cy="2329891"/>
          </a:xfrm>
          <a:prstGeom prst="rect">
            <a:avLst/>
          </a:prstGeom>
          <a:ln>
            <a:noFill/>
          </a:ln>
        </p:spPr>
      </p:pic>
      <p:graphicFrame>
        <p:nvGraphicFramePr>
          <p:cNvPr id="6" name="Table 6"/>
          <p:cNvGraphicFramePr>
            <a:graphicFrameLocks noGrp="1"/>
          </p:cNvGraphicFramePr>
          <p:nvPr/>
        </p:nvGraphicFramePr>
        <p:xfrm>
          <a:off x="4572000" y="3611880"/>
          <a:ext cx="4160520" cy="1005840"/>
        </p:xfrm>
        <a:graphic>
          <a:graphicData uri="http://schemas.openxmlformats.org/drawingml/2006/table">
            <a:tbl>
              <a:tblPr firstRow="1"/>
              <a:tblGrid>
                <a:gridCol w="1600200"/>
                <a:gridCol w="1463040"/>
                <a:gridCol w="1097280"/>
              </a:tblGrid>
              <a:tr h="201168">
                <a:tc>
                  <a:txBody>
                    <a:bodyPr/>
                    <a:lstStyle/>
                    <a:p>
                      <a:pPr marL="0" indent="0">
                        <a:buNone/>
                      </a:pP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c>
                  <a:txBody>
                    <a:bodyPr/>
                    <a:lstStyle/>
                    <a:p>
                      <a:pPr marL="0" indent="0">
                        <a:buNone/>
                      </a:pPr>
                      <a:r>
                        <a:rPr lang="en-US" sz="1000" b="1" dirty="0">
                          <a:solidFill>
                            <a:srgbClr val="EF6A4A"/>
                          </a:solidFill>
                          <a:latin typeface="Arial"/>
                          <a:cs typeface="Arial"/>
                        </a:rPr>
                        <a:t>cannon-es stock</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c>
                  <a:txBody>
                    <a:bodyPr/>
                    <a:lstStyle/>
                    <a:p>
                      <a:pPr marL="0" indent="0">
                        <a:buNone/>
                      </a:pPr>
                      <a:r>
                        <a:rPr lang="en-US" sz="1000" b="1" dirty="0">
                          <a:solidFill>
                            <a:srgbClr val="7FD8A8"/>
                          </a:solidFill>
                          <a:latin typeface="Arial"/>
                          <a:cs typeface="Arial"/>
                        </a:rPr>
                        <a:t>Ours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r>
              <a:tr h="201168">
                <a:tc>
                  <a:txBody>
                    <a:bodyPr/>
                    <a:lstStyle/>
                    <a:p>
                      <a:pPr marL="0" indent="0">
                        <a:buNone/>
                      </a:pPr>
                      <a:r>
                        <a:rPr lang="en-US" sz="1000" b="0" dirty="0">
                          <a:solidFill>
                            <a:srgbClr val="E9DCC8"/>
                          </a:solidFill>
                          <a:latin typeface="Arial"/>
                          <a:cs typeface="Arial"/>
                        </a:rPr>
                        <a:t>Plate drift, 60 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130 mm</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0.02 mm</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Box slide vs. v²/2μg</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stops in 3 mm, any μ</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within 2%</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Plates that hold 60 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fails at 5</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13</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Cost, 60 awake bodies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3.6 ms/step</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3.6 ms/step</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bl>
          </a:graphicData>
        </a:graphic>
      </p:graphicFrame>
      <p:sp>
        <p:nvSpPr>
          <p:cNvPr id="7" name="Text 7"/>
          <p:cNvSpPr txBox="1"/>
          <p:nvPr/>
        </p:nvSpPr>
        <p:spPr>
          <a:xfrm>
            <a:off x="411480" y="4727448"/>
            <a:ext cx="832104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dirty="0">
                <a:solidFill>
                  <a:srgbClr val="B9AFA3"/>
                </a:solidFill>
                <a:latin typeface="Arial"/>
                <a:cs typeface="Arial"/>
              </a:rPr>
              <a:t>Trade-offs: </a:t>
            </a:r>
            <a:r>
              <a:rPr lang="en-US" sz="1000" b="0" dirty="0">
                <a:solidFill>
                  <a:srgbClr val="B9AFA3"/>
                </a:solidFill>
                <a:latin typeface="Arial"/>
                <a:cs typeface="Arial"/>
              </a:rPr>
              <a:t>soft contacts sink tens of µm (invisible) · 14 plates still walk off · a cat landing a full jump dips 1.6 cm for one frame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1320"/>
        </a:solidFill>
        <a:effectLst/>
      </p:bgPr>
    </p:bg>
    <p:spTree>
      <p:nvGrpSpPr>
        <p:cNvPr id="1" name=""/>
        <p:cNvGrpSpPr/>
        <p:nvPr/>
      </p:nvGrpSpPr>
      <p:grpSpPr>
        <a:xfrm>
          <a:off x="0" y="0"/>
          <a:ext cx="0" cy="0"/>
          <a:chOff x="0" y="0"/>
          <a:chExt cx="0" cy="0"/>
        </a:xfrm>
      </p:grpSpPr>
      <p:sp>
        <p:nvSpPr>
          <p:cNvPr id="2" name="Text 2"/>
          <p:cNvSpPr txBox="1"/>
          <p:nvPr/>
        </p:nvSpPr>
        <p:spPr>
          <a:xfrm>
            <a:off x="411480" y="292608"/>
            <a:ext cx="8321040" cy="256032"/>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spc="150" dirty="0">
                <a:solidFill>
                  <a:srgbClr val="F0A646"/>
                </a:solidFill>
                <a:latin typeface="Arial"/>
                <a:cs typeface="Arial"/>
              </a:rPr>
              <a:t>CHALLENGE 1 · CONTACTS AT SPEED · DHARM PATEL</a:t>
            </a:r>
            <a:endParaRPr lang="en-US" sz="1000" dirty="0"/>
          </a:p>
        </p:txBody>
      </p:sp>
      <p:sp>
        <p:nvSpPr>
          <p:cNvPr id="3" name="Text 3"/>
          <p:cNvSpPr txBox="1"/>
          <p:nvPr/>
        </p:nvSpPr>
        <p:spPr>
          <a:xfrm>
            <a:off x="411480" y="530352"/>
            <a:ext cx="8321040" cy="56692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3000" b="1" dirty="0">
                <a:solidFill>
                  <a:srgbClr val="F6E6CB"/>
                </a:solidFill>
                <a:latin typeface="Georgia"/>
                <a:cs typeface="Georgia"/>
              </a:rPr>
              <a:t>Fast swats that don't tunnel</a:t>
            </a:r>
            <a:endParaRPr lang="en-US" sz="3000" dirty="0"/>
          </a:p>
        </p:txBody>
      </p:sp>
      <p:sp>
        <p:nvSpPr>
          <p:cNvPr id="4" name="Text 4"/>
          <p:cNvSpPr txBox="1"/>
          <p:nvPr/>
        </p:nvSpPr>
        <p:spPr>
          <a:xfrm>
            <a:off x="411480" y="1207008"/>
            <a:ext cx="3977640" cy="3429000"/>
          </a:xfrm>
          <a:prstGeom prst="rect">
            <a:avLst/>
          </a:prstGeom>
          <a:noFill/>
        </p:spPr>
        <p:txBody>
          <a:bodyPr wrap="square" lIns="0" tIns="0" rIns="0" bIns="0" anchor="t">
            <a:noAutofit/>
          </a:bodyPr>
          <a:lstStyle/>
          <a:p>
            <a:pPr marL="0" indent="0" algn="l">
              <a:lnSpc>
                <a:spcPct val="100000"/>
              </a:lnSpc>
              <a:spcBef>
                <a:spcPts val="0"/>
              </a:spcBef>
              <a:spcAft>
                <a:spcPts val="500"/>
              </a:spcAft>
              <a:buNone/>
            </a:pPr>
            <a:r>
              <a:rPr lang="en-US" sz="1050" b="1" dirty="0">
                <a:solidFill>
                  <a:srgbClr val="F0A646"/>
                </a:solidFill>
                <a:latin typeface="Arial"/>
                <a:cs typeface="Arial"/>
              </a:rPr>
              <a:t>Why it's hard: </a:t>
            </a:r>
            <a:r>
              <a:rPr lang="en-US" sz="1050" b="0" dirty="0">
                <a:solidFill>
                  <a:srgbClr val="E9DCC8"/>
                </a:solidFill>
                <a:latin typeface="Arial"/>
                <a:cs typeface="Arial"/>
              </a:rPr>
              <a:t>at 120 Hz a 12 m/s swat moves a mug 10 cm per substep, five times our 2 cm shelf. Discrete collision only sees where it ends up, past the middle, so it is pushed out the far side.</a:t>
            </a:r>
            <a:endParaRPr lang="en-US" sz="1050" dirty="0"/>
          </a:p>
          <a:p>
            <a:pPr marL="0" indent="0" algn="l">
              <a:lnSpc>
                <a:spcPct val="100000"/>
              </a:lnSpc>
              <a:spcBef>
                <a:spcPts val="0"/>
              </a:spcBef>
              <a:spcAft>
                <a:spcPts val="900"/>
              </a:spcAft>
              <a:buNone/>
            </a:pPr>
            <a:r>
              <a:rPr lang="en-US" sz="1050" b="0" dirty="0">
                <a:solidFill>
                  <a:srgbClr val="E9DCC8"/>
                </a:solidFill>
                <a:latin typeface="Arial"/>
                <a:cs typeface="Arial"/>
              </a:rPr>
              <a:t>Continuous collision for all 400 props costs too much, and clamping eagerly makes resting stacks jitter.</a:t>
            </a:r>
            <a:endParaRPr lang="en-US" sz="1050" dirty="0"/>
          </a:p>
          <a:p>
            <a:pPr marL="0" indent="0" algn="l">
              <a:lnSpc>
                <a:spcPct val="100000"/>
              </a:lnSpc>
              <a:spcBef>
                <a:spcPts val="0"/>
              </a:spcBef>
              <a:spcAft>
                <a:spcPts val="300"/>
              </a:spcAft>
              <a:buNone/>
            </a:pPr>
            <a:r>
              <a:rPr lang="en-US" sz="1100" b="1" dirty="0">
                <a:solidFill>
                  <a:srgbClr val="F0A646"/>
                </a:solidFill>
                <a:latin typeface="Arial"/>
                <a:cs typeface="Arial"/>
              </a:rPr>
              <a:t>Our approach: a swept-sphere guard</a:t>
            </a:r>
            <a:endParaRPr lang="en-US" sz="1100" dirty="0"/>
          </a:p>
          <a:p>
            <a:pPr marL="171450" indent="-171450" algn="l">
              <a:lnSpc>
                <a:spcPct val="100000"/>
              </a:lnSpc>
              <a:spcBef>
                <a:spcPts val="0"/>
              </a:spcBef>
              <a:spcAft>
                <a:spcPts val="300"/>
              </a:spcAft>
              <a:buClr>
                <a:srgbClr val="F0A646"/>
              </a:buClr>
              <a:buFont typeface="Arial"/>
              <a:buChar char="•"/>
            </a:pPr>
            <a:r>
              <a:rPr lang="en-US" sz="1050" b="0" dirty="0">
                <a:solidFill>
                  <a:srgbClr val="E9DCC8"/>
                </a:solidFill>
                <a:latin typeface="Arial"/>
                <a:cs typeface="Arial"/>
              </a:rPr>
              <a:t>After each substep, any body that moved more than 1 cm (about 1.2 m/s) is swept as a sphere from its old centre to its new one, against the static boxes.</a:t>
            </a:r>
            <a:endParaRPr lang="en-US" sz="1050" dirty="0"/>
          </a:p>
          <a:p>
            <a:pPr marL="171450" indent="-171450" algn="l">
              <a:lnSpc>
                <a:spcPct val="100000"/>
              </a:lnSpc>
              <a:spcBef>
                <a:spcPts val="0"/>
              </a:spcBef>
              <a:spcAft>
                <a:spcPts val="300"/>
              </a:spcAft>
              <a:buClr>
                <a:srgbClr val="F0A646"/>
              </a:buClr>
              <a:buFont typeface="Arial"/>
              <a:buChar char="•"/>
            </a:pPr>
            <a:r>
              <a:rPr lang="en-US" sz="1050" b="0" dirty="0">
                <a:solidFill>
                  <a:srgbClr val="E9DCC8"/>
                </a:solidFill>
                <a:latin typeface="Arial"/>
                <a:cs typeface="Arial"/>
              </a:rPr>
              <a:t>On a real crossing it goes back to the first hit, 2 mm short, and loses its speed into the surface; the narrowphase then resolves it from the right side.</a:t>
            </a:r>
            <a:endParaRPr lang="en-US" sz="1050" dirty="0"/>
          </a:p>
          <a:p>
            <a:pPr marL="171450" indent="-171450" algn="l">
              <a:lnSpc>
                <a:spcPct val="100000"/>
              </a:lnSpc>
              <a:spcBef>
                <a:spcPts val="0"/>
              </a:spcBef>
              <a:spcAft>
                <a:spcPts val="300"/>
              </a:spcAft>
              <a:buClr>
                <a:srgbClr val="F0A646"/>
              </a:buClr>
              <a:buFont typeface="Arial"/>
              <a:buChar char="•"/>
            </a:pPr>
            <a:r>
              <a:rPr lang="en-US" sz="1050" b="0" dirty="0">
                <a:solidFill>
                  <a:srgbClr val="E9DCC8"/>
                </a:solidFill>
                <a:latin typeface="Arial"/>
                <a:cs typeface="Arial"/>
              </a:rPr>
              <a:t>It clamps only when discrete collision would fail, so sliding props and resting stacks are left alone.</a:t>
            </a:r>
            <a:endParaRPr lang="en-US" sz="1050" dirty="0"/>
          </a:p>
          <a:p>
            <a:pPr marL="171450" indent="-171450" algn="l">
              <a:lnSpc>
                <a:spcPct val="100000"/>
              </a:lnSpc>
              <a:spcBef>
                <a:spcPts val="0"/>
              </a:spcBef>
              <a:spcAft>
                <a:spcPts val="0"/>
              </a:spcAft>
              <a:buClr>
                <a:srgbClr val="F0A646"/>
              </a:buClr>
              <a:buFont typeface="Arial"/>
              <a:buChar char="•"/>
            </a:pPr>
            <a:r>
              <a:rPr lang="en-US" sz="1050" b="0" dirty="0">
                <a:solidFill>
                  <a:srgbClr val="E9DCC8"/>
                </a:solidFill>
                <a:latin typeface="Arial"/>
                <a:cs typeface="Arial"/>
              </a:rPr>
              <a:t>Candidates come from our uniform-grid broadphase (0.5 m cells); its ray queries are what the owner sees with.</a:t>
            </a:r>
            <a:endParaRPr lang="en-US" sz="1050" dirty="0"/>
          </a:p>
        </p:txBody>
      </p:sp>
      <p:pic>
        <p:nvPicPr>
          <p:cNvPr id="5" name="Picture 5" descr="tunnel-chart.png"/>
          <p:cNvPicPr>
            <a:picLocks noChangeAspect="1"/>
          </p:cNvPicPr>
          <p:nvPr/>
        </p:nvPicPr>
        <p:blipFill>
          <a:blip r:embed="rId3"/>
          <a:stretch>
            <a:fillRect/>
          </a:stretch>
        </p:blipFill>
        <p:spPr>
          <a:xfrm>
            <a:off x="4572000" y="1207008"/>
            <a:ext cx="4160520" cy="1478585"/>
          </a:xfrm>
          <a:prstGeom prst="rect">
            <a:avLst/>
          </a:prstGeom>
          <a:ln>
            <a:noFill/>
          </a:ln>
        </p:spPr>
      </p:pic>
      <p:graphicFrame>
        <p:nvGraphicFramePr>
          <p:cNvPr id="6" name="Table 6"/>
          <p:cNvGraphicFramePr>
            <a:graphicFrameLocks noGrp="1"/>
          </p:cNvGraphicFramePr>
          <p:nvPr/>
        </p:nvGraphicFramePr>
        <p:xfrm>
          <a:off x="4572000" y="2816352"/>
          <a:ext cx="4160520" cy="804672"/>
        </p:xfrm>
        <a:graphic>
          <a:graphicData uri="http://schemas.openxmlformats.org/drawingml/2006/table">
            <a:tbl>
              <a:tblPr firstRow="1"/>
              <a:tblGrid>
                <a:gridCol w="2240280"/>
                <a:gridCol w="868680"/>
                <a:gridCol w="1051560"/>
              </a:tblGrid>
              <a:tr h="201168">
                <a:tc>
                  <a:txBody>
                    <a:bodyPr/>
                    <a:lstStyle/>
                    <a:p>
                      <a:pPr marL="0" indent="0">
                        <a:buNone/>
                      </a:pPr>
                      <a:r>
                        <a:rPr lang="en-US" sz="1000" b="1" dirty="0">
                          <a:solidFill>
                            <a:srgbClr val="F6E6CB"/>
                          </a:solidFill>
                          <a:latin typeface="Arial"/>
                          <a:cs typeface="Arial"/>
                        </a:rPr>
                        <a:t>100 swats at 12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c>
                  <a:txBody>
                    <a:bodyPr/>
                    <a:lstStyle/>
                    <a:p>
                      <a:pPr marL="0" indent="0">
                        <a:buNone/>
                      </a:pPr>
                      <a:r>
                        <a:rPr lang="en-US" sz="1000" b="1" dirty="0">
                          <a:solidFill>
                            <a:srgbClr val="EF6A4A"/>
                          </a:solidFill>
                          <a:latin typeface="Arial"/>
                          <a:cs typeface="Arial"/>
                        </a:rPr>
                        <a:t>Guard off</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c>
                  <a:txBody>
                    <a:bodyPr/>
                    <a:lstStyle/>
                    <a:p>
                      <a:pPr marL="0" indent="0">
                        <a:buNone/>
                      </a:pPr>
                      <a:r>
                        <a:rPr lang="en-US" sz="1000" b="1" dirty="0">
                          <a:solidFill>
                            <a:srgbClr val="7FD8A8"/>
                          </a:solidFill>
                          <a:latin typeface="Arial"/>
                          <a:cs typeface="Arial"/>
                        </a:rPr>
                        <a:t>Guard on</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r>
              <a:tr h="201168">
                <a:tc>
                  <a:txBody>
                    <a:bodyPr/>
                    <a:lstStyle/>
                    <a:p>
                      <a:pPr marL="0" indent="0">
                        <a:buNone/>
                      </a:pPr>
                      <a:r>
                        <a:rPr lang="en-US" sz="1000" b="0" dirty="0">
                          <a:solidFill>
                            <a:srgbClr val="E9DCC8"/>
                          </a:solidFill>
                          <a:latin typeface="Arial"/>
                          <a:cs typeface="Arial"/>
                        </a:rPr>
                        <a:t>Through the 2 cm shelf</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22</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0</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First fails at</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12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over 100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Clamps on a resting stack, 60 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0</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bl>
          </a:graphicData>
        </a:graphic>
      </p:graphicFrame>
      <p:graphicFrame>
        <p:nvGraphicFramePr>
          <p:cNvPr id="7" name="Table 7"/>
          <p:cNvGraphicFramePr>
            <a:graphicFrameLocks noGrp="1"/>
          </p:cNvGraphicFramePr>
          <p:nvPr/>
        </p:nvGraphicFramePr>
        <p:xfrm>
          <a:off x="4572000" y="3749040"/>
          <a:ext cx="4160520" cy="804672"/>
        </p:xfrm>
        <a:graphic>
          <a:graphicData uri="http://schemas.openxmlformats.org/drawingml/2006/table">
            <a:tbl>
              <a:tblPr firstRow="1"/>
              <a:tblGrid>
                <a:gridCol w="2240280"/>
                <a:gridCol w="868680"/>
                <a:gridCol w="1051560"/>
              </a:tblGrid>
              <a:tr h="201168">
                <a:tc>
                  <a:txBody>
                    <a:bodyPr/>
                    <a:lstStyle/>
                    <a:p>
                      <a:pPr marL="0" indent="0">
                        <a:buNone/>
                      </a:pPr>
                      <a:r>
                        <a:rPr lang="en-US" sz="1000" b="1" dirty="0">
                          <a:solidFill>
                            <a:srgbClr val="F6E6CB"/>
                          </a:solidFill>
                          <a:latin typeface="Arial"/>
                          <a:cs typeface="Arial"/>
                        </a:rPr>
                        <a:t>400 bodies, Chrome</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c>
                  <a:txBody>
                    <a:bodyPr/>
                    <a:lstStyle/>
                    <a:p>
                      <a:pPr marL="0" indent="0">
                        <a:buNone/>
                      </a:pPr>
                      <a:r>
                        <a:rPr lang="en-US" sz="1000" b="1" dirty="0">
                          <a:solidFill>
                            <a:srgbClr val="EF6A4A"/>
                          </a:solidFill>
                          <a:latin typeface="Arial"/>
                          <a:cs typeface="Arial"/>
                        </a:rPr>
                        <a:t>Naive</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c>
                  <a:txBody>
                    <a:bodyPr/>
                    <a:lstStyle/>
                    <a:p>
                      <a:pPr marL="0" indent="0">
                        <a:buNone/>
                      </a:pPr>
                      <a:r>
                        <a:rPr lang="en-US" sz="1000" b="1" dirty="0">
                          <a:solidFill>
                            <a:srgbClr val="7FD8A8"/>
                          </a:solidFill>
                          <a:latin typeface="Arial"/>
                          <a:cs typeface="Arial"/>
                        </a:rPr>
                        <a:t>Our grid</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2A2338"/>
                    </a:solidFill>
                  </a:tcPr>
                </a:tc>
              </a:tr>
              <a:tr h="201168">
                <a:tc>
                  <a:txBody>
                    <a:bodyPr/>
                    <a:lstStyle/>
                    <a:p>
                      <a:pPr marL="0" indent="0">
                        <a:buNone/>
                      </a:pPr>
                      <a:r>
                        <a:rPr lang="en-US" sz="1000" b="0" dirty="0">
                          <a:solidFill>
                            <a:srgbClr val="E9DCC8"/>
                          </a:solidFill>
                          <a:latin typeface="Arial"/>
                          <a:cs typeface="Arial"/>
                        </a:rPr>
                        <a:t>Pairs to the narrowphase</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1,454</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270</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Step, props moving</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8.0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6.2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r h="201168">
                <a:tc>
                  <a:txBody>
                    <a:bodyPr/>
                    <a:lstStyle/>
                    <a:p>
                      <a:pPr marL="0" indent="0">
                        <a:buNone/>
                      </a:pPr>
                      <a:r>
                        <a:rPr lang="en-US" sz="1000" b="0" dirty="0">
                          <a:solidFill>
                            <a:srgbClr val="E9DCC8"/>
                          </a:solidFill>
                          <a:latin typeface="Arial"/>
                          <a:cs typeface="Arial"/>
                        </a:rPr>
                        <a:t>Step, settled</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0" dirty="0">
                          <a:solidFill>
                            <a:srgbClr val="E9DCC8"/>
                          </a:solidFill>
                          <a:latin typeface="Arial"/>
                          <a:cs typeface="Arial"/>
                        </a:rPr>
                        <a:t>3.5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c>
                  <a:txBody>
                    <a:bodyPr/>
                    <a:lstStyle/>
                    <a:p>
                      <a:pPr marL="0" indent="0">
                        <a:buNone/>
                      </a:pPr>
                      <a:r>
                        <a:rPr lang="en-US" sz="1000" b="1" dirty="0">
                          <a:solidFill>
                            <a:srgbClr val="E9DCC8"/>
                          </a:solidFill>
                          <a:latin typeface="Arial"/>
                          <a:cs typeface="Arial"/>
                        </a:rPr>
                        <a:t>2.5 ms</a:t>
                      </a:r>
                      <a:endParaRPr lang="en-US" sz="1000" dirty="0"/>
                    </a:p>
                  </a:txBody>
                  <a:tcPr marL="54864" marR="54864" marT="18288" marB="18288" anchor="ctr">
                    <a:lnL w="9525">
                      <a:solidFill>
                        <a:srgbClr val="3A3346"/>
                      </a:solidFill>
                    </a:lnL>
                    <a:lnR w="9525">
                      <a:solidFill>
                        <a:srgbClr val="3A3346"/>
                      </a:solidFill>
                    </a:lnR>
                    <a:lnT w="9525">
                      <a:solidFill>
                        <a:srgbClr val="3A3346"/>
                      </a:solidFill>
                    </a:lnT>
                    <a:lnB w="9525">
                      <a:solidFill>
                        <a:srgbClr val="3A3346"/>
                      </a:solidFill>
                    </a:lnB>
                    <a:solidFill>
                      <a:srgbClr val="1D1828"/>
                    </a:solidFill>
                  </a:tcPr>
                </a:tc>
              </a:tr>
            </a:tbl>
          </a:graphicData>
        </a:graphic>
      </p:graphicFrame>
      <p:sp>
        <p:nvSpPr>
          <p:cNvPr id="8" name="Text 8"/>
          <p:cNvSpPr txBox="1"/>
          <p:nvPr/>
        </p:nvSpPr>
        <p:spPr>
          <a:xfrm>
            <a:off x="411480" y="4727448"/>
            <a:ext cx="8321040" cy="27432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dirty="0">
                <a:solidFill>
                  <a:srgbClr val="B9AFA3"/>
                </a:solidFill>
                <a:latin typeface="Arial"/>
                <a:cs typeface="Arial"/>
              </a:rPr>
              <a:t>Trade-offs: </a:t>
            </a:r>
            <a:r>
              <a:rPr lang="en-US" sz="1000" b="0" dirty="0">
                <a:solidFill>
                  <a:srgbClr val="B9AFA3"/>
                </a:solidFill>
                <a:latin typeface="Arial"/>
                <a:cs typeface="Arial"/>
              </a:rPr>
              <a:t>only static geometry is guarded, so two fast props can still pass through each other.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1320"/>
        </a:solidFill>
        <a:effectLst/>
      </p:bgPr>
    </p:bg>
    <p:spTree>
      <p:nvGrpSpPr>
        <p:cNvPr id="1" name=""/>
        <p:cNvGrpSpPr/>
        <p:nvPr/>
      </p:nvGrpSpPr>
      <p:grpSpPr>
        <a:xfrm>
          <a:off x="0" y="0"/>
          <a:ext cx="0" cy="0"/>
          <a:chOff x="0" y="0"/>
          <a:chExt cx="0" cy="0"/>
        </a:xfrm>
      </p:grpSpPr>
      <p:sp>
        <p:nvSpPr>
          <p:cNvPr id="2" name="Text 2"/>
          <p:cNvSpPr txBox="1"/>
          <p:nvPr/>
        </p:nvSpPr>
        <p:spPr>
          <a:xfrm>
            <a:off x="411480" y="292608"/>
            <a:ext cx="8321040" cy="256032"/>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spc="150" dirty="0">
                <a:solidFill>
                  <a:srgbClr val="F0A646"/>
                </a:solidFill>
                <a:latin typeface="Arial"/>
                <a:cs typeface="Arial"/>
              </a:rPr>
              <a:t>CHALLENGE 2 · NOISE → NPC AI · ANTARA THAPLIYAL &amp; CHRISTINA ROSS</a:t>
            </a:r>
            <a:endParaRPr lang="en-US" sz="1000" dirty="0"/>
          </a:p>
        </p:txBody>
      </p:sp>
      <p:sp>
        <p:nvSpPr>
          <p:cNvPr id="3" name="Text 3"/>
          <p:cNvSpPr txBox="1"/>
          <p:nvPr/>
        </p:nvSpPr>
        <p:spPr>
          <a:xfrm>
            <a:off x="411480" y="530352"/>
            <a:ext cx="8321040" cy="566928"/>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3000" b="1" dirty="0">
                <a:solidFill>
                  <a:srgbClr val="F6E6CB"/>
                </a:solidFill>
                <a:latin typeface="Georgia"/>
                <a:cs typeface="Georgia"/>
              </a:rPr>
              <a:t>The owner hears the physics</a:t>
            </a:r>
            <a:endParaRPr lang="en-US" sz="3000" dirty="0"/>
          </a:p>
        </p:txBody>
      </p:sp>
      <p:sp>
        <p:nvSpPr>
          <p:cNvPr id="4" name="Text 4"/>
          <p:cNvSpPr txBox="1"/>
          <p:nvPr/>
        </p:nvSpPr>
        <p:spPr>
          <a:xfrm>
            <a:off x="411480" y="1097280"/>
            <a:ext cx="8321040" cy="411480"/>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100" b="1" dirty="0">
                <a:solidFill>
                  <a:srgbClr val="F0A646"/>
                </a:solidFill>
                <a:latin typeface="Arial"/>
                <a:cs typeface="Arial"/>
              </a:rPr>
              <a:t>Why it's hard: </a:t>
            </a:r>
            <a:r>
              <a:rPr lang="en-US" sz="1100" b="0" dirty="0">
                <a:solidFill>
                  <a:srgbClr val="E9DCC8"/>
                </a:solidFill>
                <a:latin typeface="Arial"/>
                <a:cs typeface="Arial"/>
              </a:rPr>
              <a:t>raw impulses are noise (every resting contact pushes every step, one crash is dozens of contacts), loudness has to be fair and testable, and hiding has to come from geometry, not a flag.</a:t>
            </a:r>
            <a:endParaRPr lang="en-US" sz="1100" dirty="0"/>
          </a:p>
        </p:txBody>
      </p:sp>
      <p:sp>
        <p:nvSpPr>
          <p:cNvPr id="5" name="Text 5"/>
          <p:cNvSpPr txBox="1"/>
          <p:nvPr/>
        </p:nvSpPr>
        <p:spPr>
          <a:xfrm>
            <a:off x="411480" y="1591056"/>
            <a:ext cx="4069080" cy="219456"/>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950" b="1" spc="120" dirty="0">
                <a:solidFill>
                  <a:srgbClr val="F0A646"/>
                </a:solidFill>
                <a:latin typeface="Arial"/>
                <a:cs typeface="Arial"/>
              </a:rPr>
              <a:t>NOISE → WAKE METER · ANTARA</a:t>
            </a:r>
            <a:endParaRPr lang="en-US" sz="950" dirty="0"/>
          </a:p>
        </p:txBody>
      </p:sp>
      <p:sp>
        <p:nvSpPr>
          <p:cNvPr id="6" name="Card 6"/>
          <p:cNvSpPr/>
          <p:nvPr/>
        </p:nvSpPr>
        <p:spPr>
          <a:xfrm>
            <a:off x="411480" y="1847088"/>
            <a:ext cx="896112" cy="530352"/>
          </a:xfrm>
          <a:prstGeom prst="roundRect">
            <a:avLst>
              <a:gd name="adj" fmla="val 7000"/>
            </a:avLst>
          </a:prstGeom>
          <a:solidFill>
            <a:srgbClr val="221D2E"/>
          </a:solidFill>
          <a:ln w="9525">
            <a:solidFill>
              <a:srgbClr val="3A3346"/>
            </a:solidFill>
          </a:ln>
        </p:spPr>
        <p:txBody>
          <a:bodyPr wrap="square" lIns="36576" tIns="36576" rIns="36576" bIns="36576" anchor="ctr">
            <a:noAutofit/>
          </a:bodyPr>
          <a:lstStyle/>
          <a:p>
            <a:pPr marL="0" indent="0" algn="ctr">
              <a:lnSpc>
                <a:spcPct val="100000"/>
              </a:lnSpc>
              <a:spcBef>
                <a:spcPts val="0"/>
              </a:spcBef>
              <a:spcAft>
                <a:spcPts val="100"/>
              </a:spcAft>
              <a:buNone/>
            </a:pPr>
            <a:r>
              <a:rPr lang="en-US" sz="950" b="1" dirty="0">
                <a:solidFill>
                  <a:srgbClr val="F6E6CB"/>
                </a:solidFill>
                <a:latin typeface="Arial"/>
                <a:cs typeface="Arial"/>
              </a:rPr>
              <a:t>New contacts</a:t>
            </a:r>
            <a:endParaRPr lang="en-US" sz="950" dirty="0"/>
          </a:p>
          <a:p>
            <a:pPr marL="0" indent="0" algn="ctr">
              <a:lnSpc>
                <a:spcPct val="100000"/>
              </a:lnSpc>
              <a:spcBef>
                <a:spcPts val="0"/>
              </a:spcBef>
              <a:spcAft>
                <a:spcPts val="0"/>
              </a:spcAft>
              <a:buNone/>
            </a:pPr>
            <a:r>
              <a:rPr lang="en-US" sz="850" b="0" dirty="0">
                <a:solidFill>
                  <a:srgbClr val="B9AFA3"/>
                </a:solidFill>
                <a:latin typeface="Arial"/>
                <a:cs typeface="Arial"/>
              </a:rPr>
              <a:t>per body pair</a:t>
            </a:r>
            <a:endParaRPr lang="en-US" sz="850" dirty="0"/>
          </a:p>
        </p:txBody>
      </p:sp>
      <p:sp>
        <p:nvSpPr>
          <p:cNvPr id="7" name="Arrow 7"/>
          <p:cNvSpPr/>
          <p:nvPr/>
        </p:nvSpPr>
        <p:spPr>
          <a:xfrm>
            <a:off x="1321308" y="2020824"/>
            <a:ext cx="137160" cy="182880"/>
          </a:xfrm>
          <a:prstGeom prst="rightArrow">
            <a:avLst/>
          </a:prstGeom>
          <a:solidFill>
            <a:srgbClr val="F0A646"/>
          </a:solidFill>
          <a:ln>
            <a:noFill/>
          </a:ln>
        </p:spPr>
      </p:sp>
      <p:sp>
        <p:nvSpPr>
          <p:cNvPr id="8" name="Card 8"/>
          <p:cNvSpPr/>
          <p:nvPr/>
        </p:nvSpPr>
        <p:spPr>
          <a:xfrm>
            <a:off x="1469441" y="1847088"/>
            <a:ext cx="896112" cy="530352"/>
          </a:xfrm>
          <a:prstGeom prst="roundRect">
            <a:avLst>
              <a:gd name="adj" fmla="val 7000"/>
            </a:avLst>
          </a:prstGeom>
          <a:solidFill>
            <a:srgbClr val="221D2E"/>
          </a:solidFill>
          <a:ln w="9525">
            <a:solidFill>
              <a:srgbClr val="3A3346"/>
            </a:solidFill>
          </a:ln>
        </p:spPr>
        <p:txBody>
          <a:bodyPr wrap="square" lIns="36576" tIns="36576" rIns="36576" bIns="36576" anchor="ctr">
            <a:noAutofit/>
          </a:bodyPr>
          <a:lstStyle/>
          <a:p>
            <a:pPr marL="0" indent="0" algn="ctr">
              <a:lnSpc>
                <a:spcPct val="100000"/>
              </a:lnSpc>
              <a:spcBef>
                <a:spcPts val="0"/>
              </a:spcBef>
              <a:spcAft>
                <a:spcPts val="100"/>
              </a:spcAft>
              <a:buNone/>
            </a:pPr>
            <a:r>
              <a:rPr lang="en-US" sz="950" b="1" dirty="0">
                <a:solidFill>
                  <a:srgbClr val="F6E6CB"/>
                </a:solidFill>
                <a:latin typeface="Arial"/>
                <a:cs typeface="Arial"/>
              </a:rPr>
              <a:t>Loudness</a:t>
            </a:r>
            <a:endParaRPr lang="en-US" sz="950" dirty="0"/>
          </a:p>
          <a:p>
            <a:pPr marL="0" indent="0" algn="ctr">
              <a:lnSpc>
                <a:spcPct val="100000"/>
              </a:lnSpc>
              <a:spcBef>
                <a:spcPts val="0"/>
              </a:spcBef>
              <a:spcAft>
                <a:spcPts val="0"/>
              </a:spcAft>
              <a:buNone/>
            </a:pPr>
            <a:r>
              <a:rPr lang="en-US" sz="850" b="0" dirty="0">
                <a:solidFill>
                  <a:srgbClr val="B9AFA3"/>
                </a:solidFill>
                <a:latin typeface="Arial"/>
                <a:cs typeface="Arial"/>
              </a:rPr>
              <a:t>log of impulse</a:t>
            </a:r>
            <a:endParaRPr lang="en-US" sz="850" dirty="0"/>
          </a:p>
        </p:txBody>
      </p:sp>
      <p:sp>
        <p:nvSpPr>
          <p:cNvPr id="9" name="Arrow 9"/>
          <p:cNvSpPr/>
          <p:nvPr/>
        </p:nvSpPr>
        <p:spPr>
          <a:xfrm>
            <a:off x="2379269" y="2020824"/>
            <a:ext cx="137160" cy="182880"/>
          </a:xfrm>
          <a:prstGeom prst="rightArrow">
            <a:avLst/>
          </a:prstGeom>
          <a:solidFill>
            <a:srgbClr val="F0A646"/>
          </a:solidFill>
          <a:ln>
            <a:noFill/>
          </a:ln>
        </p:spPr>
      </p:sp>
      <p:sp>
        <p:nvSpPr>
          <p:cNvPr id="10" name="Card 10"/>
          <p:cNvSpPr/>
          <p:nvPr/>
        </p:nvSpPr>
        <p:spPr>
          <a:xfrm>
            <a:off x="2527402" y="1847088"/>
            <a:ext cx="896112" cy="530352"/>
          </a:xfrm>
          <a:prstGeom prst="roundRect">
            <a:avLst>
              <a:gd name="adj" fmla="val 7000"/>
            </a:avLst>
          </a:prstGeom>
          <a:solidFill>
            <a:srgbClr val="221D2E"/>
          </a:solidFill>
          <a:ln w="9525">
            <a:solidFill>
              <a:srgbClr val="3A3346"/>
            </a:solidFill>
          </a:ln>
        </p:spPr>
        <p:txBody>
          <a:bodyPr wrap="square" lIns="36576" tIns="36576" rIns="36576" bIns="36576" anchor="ctr">
            <a:noAutofit/>
          </a:bodyPr>
          <a:lstStyle/>
          <a:p>
            <a:pPr marL="0" indent="0" algn="ctr">
              <a:lnSpc>
                <a:spcPct val="100000"/>
              </a:lnSpc>
              <a:spcBef>
                <a:spcPts val="0"/>
              </a:spcBef>
              <a:spcAft>
                <a:spcPts val="100"/>
              </a:spcAft>
              <a:buNone/>
            </a:pPr>
            <a:r>
              <a:rPr lang="en-US" sz="950" b="1" dirty="0">
                <a:solidFill>
                  <a:srgbClr val="F6E6CB"/>
                </a:solidFill>
                <a:latin typeface="Arial"/>
                <a:cs typeface="Arial"/>
              </a:rPr>
              <a:t>Falloff</a:t>
            </a:r>
            <a:endParaRPr lang="en-US" sz="950" dirty="0"/>
          </a:p>
          <a:p>
            <a:pPr marL="0" indent="0" algn="ctr">
              <a:lnSpc>
                <a:spcPct val="100000"/>
              </a:lnSpc>
              <a:spcBef>
                <a:spcPts val="0"/>
              </a:spcBef>
              <a:spcAft>
                <a:spcPts val="0"/>
              </a:spcAft>
              <a:buNone/>
            </a:pPr>
            <a:r>
              <a:rPr lang="en-US" sz="850" b="0" dirty="0">
                <a:solidFill>
                  <a:srgbClr val="B9AFA3"/>
                </a:solidFill>
                <a:latin typeface="Arial"/>
                <a:cs typeface="Arial"/>
              </a:rPr>
              <a:t>to his head</a:t>
            </a:r>
            <a:endParaRPr lang="en-US" sz="850" dirty="0"/>
          </a:p>
        </p:txBody>
      </p:sp>
      <p:sp>
        <p:nvSpPr>
          <p:cNvPr id="11" name="Arrow 11"/>
          <p:cNvSpPr/>
          <p:nvPr/>
        </p:nvSpPr>
        <p:spPr>
          <a:xfrm>
            <a:off x="3437230" y="2020824"/>
            <a:ext cx="137160" cy="182880"/>
          </a:xfrm>
          <a:prstGeom prst="rightArrow">
            <a:avLst/>
          </a:prstGeom>
          <a:solidFill>
            <a:srgbClr val="F0A646"/>
          </a:solidFill>
          <a:ln>
            <a:noFill/>
          </a:ln>
        </p:spPr>
      </p:sp>
      <p:sp>
        <p:nvSpPr>
          <p:cNvPr id="12" name="Card 12"/>
          <p:cNvSpPr/>
          <p:nvPr/>
        </p:nvSpPr>
        <p:spPr>
          <a:xfrm>
            <a:off x="3585362" y="1847088"/>
            <a:ext cx="896112" cy="530352"/>
          </a:xfrm>
          <a:prstGeom prst="roundRect">
            <a:avLst>
              <a:gd name="adj" fmla="val 7000"/>
            </a:avLst>
          </a:prstGeom>
          <a:solidFill>
            <a:srgbClr val="221D2E"/>
          </a:solidFill>
          <a:ln w="9525">
            <a:solidFill>
              <a:srgbClr val="3A3346"/>
            </a:solidFill>
          </a:ln>
        </p:spPr>
        <p:txBody>
          <a:bodyPr wrap="square" lIns="36576" tIns="36576" rIns="36576" bIns="36576" anchor="ctr">
            <a:noAutofit/>
          </a:bodyPr>
          <a:lstStyle/>
          <a:p>
            <a:pPr marL="0" indent="0" algn="ctr">
              <a:lnSpc>
                <a:spcPct val="100000"/>
              </a:lnSpc>
              <a:spcBef>
                <a:spcPts val="0"/>
              </a:spcBef>
              <a:spcAft>
                <a:spcPts val="100"/>
              </a:spcAft>
              <a:buNone/>
            </a:pPr>
            <a:r>
              <a:rPr lang="en-US" sz="950" b="1" dirty="0">
                <a:solidFill>
                  <a:srgbClr val="F6E6CB"/>
                </a:solidFill>
                <a:latin typeface="Arial"/>
                <a:cs typeface="Arial"/>
              </a:rPr>
              <a:t>Wake meter</a:t>
            </a:r>
            <a:endParaRPr lang="en-US" sz="950" dirty="0"/>
          </a:p>
          <a:p>
            <a:pPr marL="0" indent="0" algn="ctr">
              <a:lnSpc>
                <a:spcPct val="100000"/>
              </a:lnSpc>
              <a:spcBef>
                <a:spcPts val="0"/>
              </a:spcBef>
              <a:spcAft>
                <a:spcPts val="0"/>
              </a:spcAft>
              <a:buNone/>
            </a:pPr>
            <a:r>
              <a:rPr lang="en-US" sz="850" b="0" dirty="0">
                <a:solidFill>
                  <a:srgbClr val="B9AFA3"/>
                </a:solidFill>
                <a:latin typeface="Arial"/>
                <a:cs typeface="Arial"/>
              </a:rPr>
              <a:t>drains slowly</a:t>
            </a:r>
            <a:endParaRPr lang="en-US" sz="850" dirty="0"/>
          </a:p>
        </p:txBody>
      </p:sp>
      <p:sp>
        <p:nvSpPr>
          <p:cNvPr id="13" name="Card 13"/>
          <p:cNvSpPr/>
          <p:nvPr/>
        </p:nvSpPr>
        <p:spPr>
          <a:xfrm>
            <a:off x="411480" y="2505456"/>
            <a:ext cx="4069080" cy="2395728"/>
          </a:xfrm>
          <a:prstGeom prst="roundRect">
            <a:avLst>
              <a:gd name="adj" fmla="val 7000"/>
            </a:avLst>
          </a:prstGeom>
          <a:solidFill>
            <a:srgbClr val="221D2E"/>
          </a:solidFill>
          <a:ln w="9525">
            <a:solidFill>
              <a:srgbClr val="3A3346"/>
            </a:solidFill>
          </a:ln>
        </p:spPr>
        <p:txBody>
          <a:bodyPr wrap="square" lIns="91440" tIns="91440" rIns="91440" bIns="91440" anchor="t">
            <a:noAutofit/>
          </a:bodyPr>
          <a:lstStyle/>
          <a:p>
            <a:endParaRPr lang="en-US" dirty="0"/>
          </a:p>
        </p:txBody>
      </p:sp>
      <p:sp>
        <p:nvSpPr>
          <p:cNvPr id="14" name="Text 14"/>
          <p:cNvSpPr txBox="1"/>
          <p:nvPr/>
        </p:nvSpPr>
        <p:spPr>
          <a:xfrm>
            <a:off x="548640" y="2578608"/>
            <a:ext cx="3794760" cy="201168"/>
          </a:xfrm>
          <a:prstGeom prst="rect">
            <a:avLst/>
          </a:prstGeom>
          <a:noFill/>
        </p:spPr>
        <p:txBody>
          <a:bodyPr wrap="square" lIns="0" tIns="0" rIns="0" bIns="0" anchor="t">
            <a:noAutofit/>
          </a:bodyPr>
          <a:lstStyle/>
          <a:p>
            <a:pPr marL="0" indent="0" algn="ctr">
              <a:lnSpc>
                <a:spcPct val="100000"/>
              </a:lnSpc>
              <a:spcBef>
                <a:spcPts val="0"/>
              </a:spcBef>
              <a:spcAft>
                <a:spcPts val="0"/>
              </a:spcAft>
              <a:buNone/>
            </a:pPr>
            <a:r>
              <a:rPr lang="en-US" sz="950" b="0" dirty="0">
                <a:solidFill>
                  <a:srgbClr val="B9AFA3"/>
                </a:solidFill>
                <a:latin typeface="Arial"/>
                <a:cs typeface="Arial"/>
              </a:rPr>
              <a:t>loudness = material pair × ln(1 + J / 0.3 N·s) × distance falloff</a:t>
            </a:r>
            <a:endParaRPr lang="en-US" sz="950" dirty="0"/>
          </a:p>
        </p:txBody>
      </p:sp>
      <p:pic>
        <p:nvPicPr>
          <p:cNvPr id="15" name="Picture 15" descr="wake-chart.png"/>
          <p:cNvPicPr>
            <a:picLocks noChangeAspect="1"/>
          </p:cNvPicPr>
          <p:nvPr/>
        </p:nvPicPr>
        <p:blipFill>
          <a:blip r:embed="rId3"/>
          <a:stretch>
            <a:fillRect/>
          </a:stretch>
        </p:blipFill>
        <p:spPr>
          <a:xfrm>
            <a:off x="937260" y="2798064"/>
            <a:ext cx="3017520" cy="1689811"/>
          </a:xfrm>
          <a:prstGeom prst="rect">
            <a:avLst/>
          </a:prstGeom>
          <a:ln>
            <a:noFill/>
          </a:ln>
        </p:spPr>
      </p:pic>
      <p:sp>
        <p:nvSpPr>
          <p:cNvPr id="16" name="Text 16"/>
          <p:cNvSpPr txBox="1"/>
          <p:nvPr/>
        </p:nvSpPr>
        <p:spPr>
          <a:xfrm>
            <a:off x="548640" y="4507992"/>
            <a:ext cx="3794760" cy="347472"/>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1000" b="1" dirty="0">
                <a:solidFill>
                  <a:srgbClr val="7FD8A8"/>
                </a:solidFill>
                <a:latin typeface="Arial"/>
                <a:cs typeface="Arial"/>
              </a:rPr>
              <a:t>Coupling proof passes: </a:t>
            </a:r>
            <a:r>
              <a:rPr lang="en-US" sz="1000" b="0" dirty="0">
                <a:solidFill>
                  <a:srgbClr val="E9DCC8"/>
                </a:solidFill>
                <a:latin typeface="Arial"/>
                <a:cs typeface="Arial"/>
              </a:rPr>
              <a:t>the same swat sits him up beside the bed (0.55) and leaves him asleep from the far wall (0.10).</a:t>
            </a:r>
            <a:endParaRPr lang="en-US" sz="1000" dirty="0"/>
          </a:p>
        </p:txBody>
      </p:sp>
      <p:sp>
        <p:nvSpPr>
          <p:cNvPr id="17" name="Text 17"/>
          <p:cNvSpPr txBox="1"/>
          <p:nvPr/>
        </p:nvSpPr>
        <p:spPr>
          <a:xfrm>
            <a:off x="4663440" y="1591056"/>
            <a:ext cx="4069080" cy="219456"/>
          </a:xfrm>
          <a:prstGeom prst="rect">
            <a:avLst/>
          </a:prstGeom>
          <a:noFill/>
        </p:spPr>
        <p:txBody>
          <a:bodyPr wrap="square" lIns="0" tIns="0" rIns="0" bIns="0" anchor="t">
            <a:noAutofit/>
          </a:bodyPr>
          <a:lstStyle/>
          <a:p>
            <a:pPr marL="0" indent="0" algn="l">
              <a:lnSpc>
                <a:spcPct val="100000"/>
              </a:lnSpc>
              <a:spcBef>
                <a:spcPts val="0"/>
              </a:spcBef>
              <a:spcAft>
                <a:spcPts val="0"/>
              </a:spcAft>
              <a:buNone/>
            </a:pPr>
            <a:r>
              <a:rPr lang="en-US" sz="950" b="1" spc="120" dirty="0">
                <a:solidFill>
                  <a:srgbClr val="F0A646"/>
                </a:solidFill>
                <a:latin typeface="Arial"/>
                <a:cs typeface="Arial"/>
              </a:rPr>
              <a:t>OWNER AI · CHRISTINA</a:t>
            </a:r>
            <a:endParaRPr lang="en-US" sz="950" dirty="0"/>
          </a:p>
        </p:txBody>
      </p:sp>
      <p:sp>
        <p:nvSpPr>
          <p:cNvPr id="18" name="Card 18"/>
          <p:cNvSpPr/>
          <p:nvPr/>
        </p:nvSpPr>
        <p:spPr>
          <a:xfrm>
            <a:off x="4663440" y="1847088"/>
            <a:ext cx="740664" cy="530352"/>
          </a:xfrm>
          <a:prstGeom prst="roundRect">
            <a:avLst>
              <a:gd name="adj" fmla="val 7000"/>
            </a:avLst>
          </a:prstGeom>
          <a:solidFill>
            <a:srgbClr val="221D2E"/>
          </a:solidFill>
          <a:ln w="9525">
            <a:solidFill>
              <a:srgbClr val="3A3346"/>
            </a:solidFill>
          </a:ln>
        </p:spPr>
        <p:txBody>
          <a:bodyPr wrap="square" lIns="27432" tIns="27432" rIns="27432" bIns="27432" anchor="ctr">
            <a:noAutofit/>
          </a:bodyPr>
          <a:lstStyle/>
          <a:p>
            <a:pPr marL="0" indent="0" algn="ctr">
              <a:lnSpc>
                <a:spcPct val="100000"/>
              </a:lnSpc>
              <a:spcBef>
                <a:spcPts val="0"/>
              </a:spcBef>
              <a:spcAft>
                <a:spcPts val="100"/>
              </a:spcAft>
              <a:buNone/>
            </a:pPr>
            <a:r>
              <a:rPr lang="en-US" sz="900" b="1" dirty="0">
                <a:solidFill>
                  <a:srgbClr val="F6E6CB"/>
                </a:solidFill>
                <a:latin typeface="Arial"/>
                <a:cs typeface="Arial"/>
              </a:rPr>
              <a:t>Asleep</a:t>
            </a:r>
            <a:endParaRPr lang="en-US" sz="900" dirty="0"/>
          </a:p>
          <a:p>
            <a:pPr marL="0" indent="0" algn="ctr">
              <a:lnSpc>
                <a:spcPct val="100000"/>
              </a:lnSpc>
              <a:spcBef>
                <a:spcPts val="0"/>
              </a:spcBef>
              <a:spcAft>
                <a:spcPts val="0"/>
              </a:spcAft>
              <a:buNone/>
            </a:pPr>
            <a:r>
              <a:rPr lang="en-US" sz="850" b="0" dirty="0">
                <a:solidFill>
                  <a:srgbClr val="B9AFA3"/>
                </a:solidFill>
                <a:latin typeface="Arial"/>
                <a:cs typeface="Arial"/>
              </a:rPr>
              <a:t>below 0.2</a:t>
            </a:r>
            <a:endParaRPr lang="en-US" sz="850" dirty="0"/>
          </a:p>
        </p:txBody>
      </p:sp>
      <p:sp>
        <p:nvSpPr>
          <p:cNvPr id="19" name="Card 19"/>
          <p:cNvSpPr/>
          <p:nvPr/>
        </p:nvSpPr>
        <p:spPr>
          <a:xfrm>
            <a:off x="5495544" y="1847088"/>
            <a:ext cx="740664" cy="530352"/>
          </a:xfrm>
          <a:prstGeom prst="roundRect">
            <a:avLst>
              <a:gd name="adj" fmla="val 7000"/>
            </a:avLst>
          </a:prstGeom>
          <a:solidFill>
            <a:srgbClr val="2E2440"/>
          </a:solidFill>
          <a:ln w="9525">
            <a:solidFill>
              <a:srgbClr val="F0A646"/>
            </a:solidFill>
          </a:ln>
        </p:spPr>
        <p:txBody>
          <a:bodyPr wrap="square" lIns="27432" tIns="27432" rIns="27432" bIns="27432" anchor="ctr">
            <a:noAutofit/>
          </a:bodyPr>
          <a:lstStyle/>
          <a:p>
            <a:pPr marL="0" indent="0" algn="ctr">
              <a:lnSpc>
                <a:spcPct val="100000"/>
              </a:lnSpc>
              <a:spcBef>
                <a:spcPts val="0"/>
              </a:spcBef>
              <a:spcAft>
                <a:spcPts val="100"/>
              </a:spcAft>
              <a:buNone/>
            </a:pPr>
            <a:r>
              <a:rPr lang="en-US" sz="900" b="1" dirty="0">
                <a:solidFill>
                  <a:srgbClr val="F6E6CB"/>
                </a:solidFill>
                <a:latin typeface="Arial"/>
                <a:cs typeface="Arial"/>
              </a:rPr>
              <a:t>Stirring</a:t>
            </a:r>
            <a:endParaRPr lang="en-US" sz="900" dirty="0"/>
          </a:p>
          <a:p>
            <a:pPr marL="0" indent="0" algn="ctr">
              <a:lnSpc>
                <a:spcPct val="100000"/>
              </a:lnSpc>
              <a:spcBef>
                <a:spcPts val="0"/>
              </a:spcBef>
              <a:spcAft>
                <a:spcPts val="0"/>
              </a:spcAft>
              <a:buNone/>
            </a:pPr>
            <a:r>
              <a:rPr lang="en-US" sz="850" b="0" dirty="0">
                <a:solidFill>
                  <a:srgbClr val="B9AFA3"/>
                </a:solidFill>
                <a:latin typeface="Arial"/>
                <a:cs typeface="Arial"/>
              </a:rPr>
              <a:t>≥ 0.2</a:t>
            </a:r>
            <a:endParaRPr lang="en-US" sz="850" dirty="0"/>
          </a:p>
        </p:txBody>
      </p:sp>
      <p:sp>
        <p:nvSpPr>
          <p:cNvPr id="20" name="Card 20"/>
          <p:cNvSpPr/>
          <p:nvPr/>
        </p:nvSpPr>
        <p:spPr>
          <a:xfrm>
            <a:off x="6327648" y="1847088"/>
            <a:ext cx="740664" cy="530352"/>
          </a:xfrm>
          <a:prstGeom prst="roundRect">
            <a:avLst>
              <a:gd name="adj" fmla="val 7000"/>
            </a:avLst>
          </a:prstGeom>
          <a:solidFill>
            <a:srgbClr val="2E2440"/>
          </a:solidFill>
          <a:ln w="9525">
            <a:solidFill>
              <a:srgbClr val="F0A646"/>
            </a:solidFill>
          </a:ln>
        </p:spPr>
        <p:txBody>
          <a:bodyPr wrap="square" lIns="27432" tIns="27432" rIns="27432" bIns="27432" anchor="ctr">
            <a:noAutofit/>
          </a:bodyPr>
          <a:lstStyle/>
          <a:p>
            <a:pPr marL="0" indent="0" algn="ctr">
              <a:lnSpc>
                <a:spcPct val="100000"/>
              </a:lnSpc>
              <a:spcBef>
                <a:spcPts val="0"/>
              </a:spcBef>
              <a:spcAft>
                <a:spcPts val="100"/>
              </a:spcAft>
              <a:buNone/>
            </a:pPr>
            <a:r>
              <a:rPr lang="en-US" sz="900" b="1" dirty="0">
                <a:solidFill>
                  <a:srgbClr val="F6E6CB"/>
                </a:solidFill>
                <a:latin typeface="Arial"/>
                <a:cs typeface="Arial"/>
              </a:rPr>
              <a:t>Sitting up</a:t>
            </a:r>
            <a:endParaRPr lang="en-US" sz="900" dirty="0"/>
          </a:p>
          <a:p>
            <a:pPr marL="0" indent="0" algn="ctr">
              <a:lnSpc>
                <a:spcPct val="100000"/>
              </a:lnSpc>
              <a:spcBef>
                <a:spcPts val="0"/>
              </a:spcBef>
              <a:spcAft>
                <a:spcPts val="0"/>
              </a:spcAft>
              <a:buNone/>
            </a:pPr>
            <a:r>
              <a:rPr lang="en-US" sz="850" b="0" dirty="0">
                <a:solidFill>
                  <a:srgbClr val="B9AFA3"/>
                </a:solidFill>
                <a:latin typeface="Arial"/>
                <a:cs typeface="Arial"/>
              </a:rPr>
              <a:t>≥ 0.45</a:t>
            </a:r>
            <a:endParaRPr lang="en-US" sz="850" dirty="0"/>
          </a:p>
        </p:txBody>
      </p:sp>
      <p:sp>
        <p:nvSpPr>
          <p:cNvPr id="21" name="Card 21"/>
          <p:cNvSpPr/>
          <p:nvPr/>
        </p:nvSpPr>
        <p:spPr>
          <a:xfrm>
            <a:off x="7159752" y="1847088"/>
            <a:ext cx="740664" cy="530352"/>
          </a:xfrm>
          <a:prstGeom prst="roundRect">
            <a:avLst>
              <a:gd name="adj" fmla="val 7000"/>
            </a:avLst>
          </a:prstGeom>
          <a:solidFill>
            <a:srgbClr val="2E2440"/>
          </a:solidFill>
          <a:ln w="9525">
            <a:solidFill>
              <a:srgbClr val="F0A646"/>
            </a:solidFill>
          </a:ln>
        </p:spPr>
        <p:txBody>
          <a:bodyPr wrap="square" lIns="27432" tIns="27432" rIns="27432" bIns="27432" anchor="ctr">
            <a:noAutofit/>
          </a:bodyPr>
          <a:lstStyle/>
          <a:p>
            <a:pPr marL="0" indent="0" algn="ctr">
              <a:lnSpc>
                <a:spcPct val="100000"/>
              </a:lnSpc>
              <a:spcBef>
                <a:spcPts val="0"/>
              </a:spcBef>
              <a:spcAft>
                <a:spcPts val="100"/>
              </a:spcAft>
              <a:buNone/>
            </a:pPr>
            <a:r>
              <a:rPr lang="en-US" sz="900" b="1" dirty="0">
                <a:solidFill>
                  <a:srgbClr val="F6E6CB"/>
                </a:solidFill>
                <a:latin typeface="Arial"/>
                <a:cs typeface="Arial"/>
              </a:rPr>
              <a:t>Standing</a:t>
            </a:r>
            <a:endParaRPr lang="en-US" sz="900" dirty="0"/>
          </a:p>
          <a:p>
            <a:pPr marL="0" indent="0" algn="ctr">
              <a:lnSpc>
                <a:spcPct val="100000"/>
              </a:lnSpc>
              <a:spcBef>
                <a:spcPts val="0"/>
              </a:spcBef>
              <a:spcAft>
                <a:spcPts val="0"/>
              </a:spcAft>
              <a:buNone/>
            </a:pPr>
            <a:r>
              <a:rPr lang="en-US" sz="850" b="0" dirty="0">
                <a:solidFill>
                  <a:srgbClr val="B9AFA3"/>
                </a:solidFill>
                <a:latin typeface="Arial"/>
                <a:cs typeface="Arial"/>
              </a:rPr>
              <a:t>≥ 0.7</a:t>
            </a:r>
            <a:endParaRPr lang="en-US" sz="850" dirty="0"/>
          </a:p>
        </p:txBody>
      </p:sp>
      <p:sp>
        <p:nvSpPr>
          <p:cNvPr id="22" name="Card 22"/>
          <p:cNvSpPr/>
          <p:nvPr/>
        </p:nvSpPr>
        <p:spPr>
          <a:xfrm>
            <a:off x="7991856" y="1847088"/>
            <a:ext cx="740664" cy="530352"/>
          </a:xfrm>
          <a:prstGeom prst="roundRect">
            <a:avLst>
              <a:gd name="adj" fmla="val 7000"/>
            </a:avLst>
          </a:prstGeom>
          <a:solidFill>
            <a:srgbClr val="2E2440"/>
          </a:solidFill>
          <a:ln w="9525">
            <a:solidFill>
              <a:srgbClr val="F0A646"/>
            </a:solidFill>
          </a:ln>
        </p:spPr>
        <p:txBody>
          <a:bodyPr wrap="square" lIns="27432" tIns="27432" rIns="27432" bIns="27432" anchor="ctr">
            <a:noAutofit/>
          </a:bodyPr>
          <a:lstStyle/>
          <a:p>
            <a:pPr marL="0" indent="0" algn="ctr">
              <a:lnSpc>
                <a:spcPct val="100000"/>
              </a:lnSpc>
              <a:spcBef>
                <a:spcPts val="0"/>
              </a:spcBef>
              <a:spcAft>
                <a:spcPts val="100"/>
              </a:spcAft>
              <a:buNone/>
            </a:pPr>
            <a:r>
              <a:rPr lang="en-US" sz="900" b="1" dirty="0">
                <a:solidFill>
                  <a:srgbClr val="F6E6CB"/>
                </a:solidFill>
                <a:latin typeface="Arial"/>
                <a:cs typeface="Arial"/>
              </a:rPr>
              <a:t>Awake</a:t>
            </a:r>
            <a:endParaRPr lang="en-US" sz="900" dirty="0"/>
          </a:p>
          <a:p>
            <a:pPr marL="0" indent="0" algn="ctr">
              <a:lnSpc>
                <a:spcPct val="100000"/>
              </a:lnSpc>
              <a:spcBef>
                <a:spcPts val="0"/>
              </a:spcBef>
              <a:spcAft>
                <a:spcPts val="0"/>
              </a:spcAft>
              <a:buNone/>
            </a:pPr>
            <a:r>
              <a:rPr lang="en-US" sz="850" b="0" dirty="0">
                <a:solidFill>
                  <a:srgbClr val="B9AFA3"/>
                </a:solidFill>
                <a:latin typeface="Arial"/>
                <a:cs typeface="Arial"/>
              </a:rPr>
              <a:t>≥ 0.85</a:t>
            </a:r>
            <a:endParaRPr lang="en-US" sz="850" dirty="0"/>
          </a:p>
        </p:txBody>
      </p:sp>
      <p:sp>
        <p:nvSpPr>
          <p:cNvPr id="23" name="Card 23"/>
          <p:cNvSpPr/>
          <p:nvPr/>
        </p:nvSpPr>
        <p:spPr>
          <a:xfrm>
            <a:off x="4663440" y="2505456"/>
            <a:ext cx="4069080" cy="2395728"/>
          </a:xfrm>
          <a:prstGeom prst="roundRect">
            <a:avLst>
              <a:gd name="adj" fmla="val 7000"/>
            </a:avLst>
          </a:prstGeom>
          <a:solidFill>
            <a:srgbClr val="221D2E"/>
          </a:solidFill>
          <a:ln w="9525">
            <a:solidFill>
              <a:srgbClr val="3A3346"/>
            </a:solidFill>
          </a:ln>
        </p:spPr>
        <p:txBody>
          <a:bodyPr wrap="square" lIns="91440" tIns="91440" rIns="91440" bIns="91440" anchor="t">
            <a:noAutofit/>
          </a:bodyPr>
          <a:lstStyle/>
          <a:p>
            <a:endParaRPr lang="en-US" dirty="0"/>
          </a:p>
        </p:txBody>
      </p:sp>
      <p:pic>
        <p:nvPicPr>
          <p:cNvPr id="24" name="Picture 24" descr="chasing-crop.jpg"/>
          <p:cNvPicPr>
            <a:picLocks noChangeAspect="1"/>
          </p:cNvPicPr>
          <p:nvPr/>
        </p:nvPicPr>
        <p:blipFill>
          <a:blip r:embed="rId4"/>
          <a:stretch>
            <a:fillRect/>
          </a:stretch>
        </p:blipFill>
        <p:spPr>
          <a:xfrm>
            <a:off x="4754880" y="2596896"/>
            <a:ext cx="1737360" cy="1085850"/>
          </a:xfrm>
          <a:prstGeom prst="rect">
            <a:avLst/>
          </a:prstGeom>
          <a:ln w="9525">
            <a:solidFill>
              <a:srgbClr val="3A3346"/>
            </a:solidFill>
          </a:ln>
        </p:spPr>
      </p:pic>
      <p:sp>
        <p:nvSpPr>
          <p:cNvPr id="25" name="Text 25"/>
          <p:cNvSpPr txBox="1"/>
          <p:nvPr/>
        </p:nvSpPr>
        <p:spPr>
          <a:xfrm>
            <a:off x="6601968" y="2596896"/>
            <a:ext cx="2057400" cy="1143000"/>
          </a:xfrm>
          <a:prstGeom prst="rect">
            <a:avLst/>
          </a:prstGeom>
          <a:noFill/>
        </p:spPr>
        <p:txBody>
          <a:bodyPr wrap="square" lIns="0" tIns="0" rIns="0" bIns="0" anchor="t">
            <a:noAutofit/>
          </a:bodyPr>
          <a:lstStyle/>
          <a:p>
            <a:pPr marL="0" indent="0" algn="l">
              <a:lnSpc>
                <a:spcPct val="100000"/>
              </a:lnSpc>
              <a:spcBef>
                <a:spcPts val="0"/>
              </a:spcBef>
              <a:spcAft>
                <a:spcPts val="300"/>
              </a:spcAft>
              <a:buNone/>
            </a:pPr>
            <a:r>
              <a:rPr lang="en-US" sz="1000" b="1" dirty="0">
                <a:solidFill>
                  <a:srgbClr val="F0A646"/>
                </a:solidFill>
                <a:latin typeface="Arial"/>
                <a:cs typeface="Arial"/>
              </a:rPr>
              <a:t>Behaviour tree</a:t>
            </a:r>
            <a:endParaRPr lang="en-US" sz="1000" dirty="0"/>
          </a:p>
          <a:p>
            <a:pPr marL="0" indent="0" algn="l">
              <a:lnSpc>
                <a:spcPct val="100000"/>
              </a:lnSpc>
              <a:spcBef>
                <a:spcPts val="0"/>
              </a:spcBef>
              <a:spcAft>
                <a:spcPts val="200"/>
              </a:spcAft>
              <a:buNone/>
            </a:pPr>
            <a:r>
              <a:rPr lang="en-US" sz="950" b="0" dirty="0">
                <a:solidFill>
                  <a:srgbClr val="E9DCC8"/>
                </a:solidFill>
                <a:latin typeface="Arial"/>
                <a:cs typeface="Arial"/>
              </a:rPr>
              <a:t>Sitting up + noise → investigate</a:t>
            </a:r>
            <a:endParaRPr lang="en-US" sz="950" dirty="0"/>
          </a:p>
          <a:p>
            <a:pPr marL="0" indent="0" algn="l">
              <a:lnSpc>
                <a:spcPct val="100000"/>
              </a:lnSpc>
              <a:spcBef>
                <a:spcPts val="0"/>
              </a:spcBef>
              <a:spcAft>
                <a:spcPts val="200"/>
              </a:spcAft>
              <a:buNone/>
            </a:pPr>
            <a:r>
              <a:rPr lang="en-US" sz="950" b="0" dirty="0">
                <a:solidFill>
                  <a:srgbClr val="E9DCC8"/>
                </a:solidFill>
                <a:latin typeface="Arial"/>
                <a:cs typeface="Arial"/>
              </a:rPr>
              <a:t>Standing + loud → search</a:t>
            </a:r>
            <a:endParaRPr lang="en-US" sz="950" dirty="0"/>
          </a:p>
          <a:p>
            <a:pPr marL="0" indent="0" algn="l">
              <a:lnSpc>
                <a:spcPct val="100000"/>
              </a:lnSpc>
              <a:spcBef>
                <a:spcPts val="0"/>
              </a:spcBef>
              <a:spcAft>
                <a:spcPts val="200"/>
              </a:spcAft>
              <a:buNone/>
            </a:pPr>
            <a:r>
              <a:rPr lang="en-US" sz="950" b="0" dirty="0">
                <a:solidFill>
                  <a:srgbClr val="E9DCC8"/>
                </a:solidFill>
                <a:latin typeface="Arial"/>
                <a:cs typeface="Arial"/>
              </a:rPr>
              <a:t>Otherwise → check hiding spots</a:t>
            </a:r>
            <a:endParaRPr lang="en-US" sz="950" dirty="0"/>
          </a:p>
          <a:p>
            <a:pPr marL="0" indent="0" algn="l">
              <a:lnSpc>
                <a:spcPct val="100000"/>
              </a:lnSpc>
              <a:spcBef>
                <a:spcPts val="0"/>
              </a:spcBef>
              <a:spcAft>
                <a:spcPts val="0"/>
              </a:spcAft>
              <a:buNone/>
            </a:pPr>
            <a:r>
              <a:rPr lang="en-US" sz="950" b="0" dirty="0">
                <a:solidFill>
                  <a:srgbClr val="E9DCC8"/>
                </a:solidFill>
                <a:latin typeface="Arial"/>
                <a:cs typeface="Arial"/>
              </a:rPr>
              <a:t>Quiet again → back to bed</a:t>
            </a:r>
            <a:endParaRPr lang="en-US" sz="950" dirty="0"/>
          </a:p>
        </p:txBody>
      </p:sp>
      <p:sp>
        <p:nvSpPr>
          <p:cNvPr id="26" name="Text 26"/>
          <p:cNvSpPr txBox="1"/>
          <p:nvPr/>
        </p:nvSpPr>
        <p:spPr>
          <a:xfrm>
            <a:off x="4773168" y="3767328"/>
            <a:ext cx="3840480" cy="1051560"/>
          </a:xfrm>
          <a:prstGeom prst="rect">
            <a:avLst/>
          </a:prstGeom>
          <a:noFill/>
        </p:spPr>
        <p:txBody>
          <a:bodyPr wrap="square" lIns="0" tIns="0" rIns="0" bIns="0" anchor="t">
            <a:noAutofit/>
          </a:bodyPr>
          <a:lstStyle/>
          <a:p>
            <a:pPr marL="0" indent="0" algn="l">
              <a:lnSpc>
                <a:spcPct val="100000"/>
              </a:lnSpc>
              <a:spcBef>
                <a:spcPts val="0"/>
              </a:spcBef>
              <a:spcAft>
                <a:spcPts val="500"/>
              </a:spcAft>
              <a:buNone/>
            </a:pPr>
            <a:r>
              <a:rPr lang="en-US" sz="1000" b="0" dirty="0">
                <a:solidFill>
                  <a:srgbClr val="E9DCC8"/>
                </a:solidFill>
                <a:latin typeface="Arial"/>
                <a:cs typeface="Arial"/>
              </a:rPr>
              <a:t>In the game he walks A* paths between 12 waypoints and sees with a view cone confirmed by line-of-sight rays: the bed skirt hides you, the desk doesn't.</a:t>
            </a:r>
            <a:endParaRPr lang="en-US" sz="1000" dirty="0"/>
          </a:p>
          <a:p>
            <a:pPr marL="0" indent="0" algn="l">
              <a:lnSpc>
                <a:spcPct val="100000"/>
              </a:lnSpc>
              <a:spcBef>
                <a:spcPts val="0"/>
              </a:spcBef>
              <a:spcAft>
                <a:spcPts val="0"/>
              </a:spcAft>
              <a:buNone/>
            </a:pPr>
            <a:r>
              <a:rPr lang="en-US" sz="950" b="1" dirty="0">
                <a:solidFill>
                  <a:srgbClr val="B9AFA3"/>
                </a:solidFill>
                <a:latin typeface="Arial"/>
                <a:cs typeface="Arial"/>
              </a:rPr>
              <a:t>Limits: </a:t>
            </a:r>
            <a:r>
              <a:rPr lang="en-US" sz="950" b="0" dirty="0">
                <a:solidFill>
                  <a:srgbClr val="B9AFA3"/>
                </a:solidFill>
                <a:latin typeface="Arial"/>
                <a:cs typeface="Arial"/>
              </a:rPr>
              <a:t>stages don't step back down yet as he calms (the game works around it) · under the bed is always safe.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Slides>
  <Notes>4</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Group Last One Awake</dc:creator>
  <cp:lastModifiedBy>Group Last One Awake</cp:lastModifiedBy>
  <cp:revision>1</cp:revision>
  <dcterms:created xsi:type="dcterms:W3CDTF">2026-09-22T01:08:18Z</dcterms:created>
  <dcterms:modified xsi:type="dcterms:W3CDTF">2026-09-22T01:08:18Z</dcterms:modified>
</cp:coreProperties>
</file>