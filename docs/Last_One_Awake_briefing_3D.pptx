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3" r:id="rId14"/>
    <p:sldId id="259" r:id="rId5"/>
    <p:sldId id="260" r:id="rId6"/>
    <p:sldId id="261" r:id="rId7"/>
    <p:sldId id="264" r:id="rId15"/>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  <Relationship Id="rId14" Type="http://schemas.openxmlformats.org/officeDocument/2006/relationships/slide" Target="slides/slide8.xml"/>
  <Relationship Id="rId15" Type="http://schemas.openxmlformats.org/officeDocument/2006/relationships/slide" Target="slides/slide9.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it's 3 a.m., you are the cat, and your goal is to wreck the apartment before the owner wakes up and catches you. Every object is a physics body, every crash makes noise, noise fills a wake meter, and once the owner is up he hunts you. Nothing about the destruction is scripted.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left to right. The thing to stress: the impulse magnitude from the collision solver is literally the number that becomes loudness. Bigger crash, louder noise, faster wake. That coupling is the point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up front: this 2D mockup only communicates our idea; it is not a build of the game. Switch to the browser and do four things: nudge a mug to the edge and let it teeter, pull a book from a stack, let the wake meter climb until he sits up, then hide under the desk. Narrate the pillar each time: the teeter is angular momentum, the collapse is emergent contacts, the meter is impulse-derived noise, the escape is a raycast hitting the desk. Then: the same loop moves into 3D, which is where the hard problems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each. Physics is what makes the chaos emergent. Collision detection is its own system because there are dozens of active bodies and thin geometry. The AI only knows what it can perceive: noise and line of sight, not global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Three.js renders, cannon-es integrates motion and resolves contacts, Blender is for assets and baked lighting. What we implement is the collision layer around the solver, the coupling into the AI, and the AI itself. If asked why not Rapier: Rapier ships continuous collision detection, which would remove the tunneling problem, and collision is one of our pillars, so we want that work to be ours. If asked why not Godot or Unity: an engine would do the collision layer for us, and staying in the browser means anyone can play from a link. cannon-es lets you replace its broad phase with your own class, so that is real code, not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things we expect to spend real time on. The first two are the 3D slice, and they pull against each other: clamping a fast object outside the solver injects contacts the solver did not generate, which is a known way to make a resting stack jitter. So the swept test only runs above a speed threshold. No agent can tell us the right thresholds; we find them by measuring. Our mid-term proof is a 3D slice of one desk and the bed, measured on a debug overlay: five plates at rest for 60 seconds with under 2 mm penetration, 100 swats at 12 m/s with zero pass-throughs, and the same swat waking him from beside the bed but not from the far wall, all at 60 FPS. If plates will not settle by the mid-term, we fall back to books. The last two are tuning problems that need a human at the keyboard.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we are going: a 3D isometric room. The image is concept art of our own scene: 3 a.m., the owner asleep, the cat on the desk next to the plate stack, and a mug already on its way to the floor. Notice it is the same room as our vertical slice. Four things change in 3D. A fixed isometric camera looks into a cut-away room. Props are detailed 3D models, but each one sits on a simple collider we author, so the look and the physics stay separate. Lighting is one warm desk lamp and cool moonlight, baked in Blender for the static room, with real-time light only for moving objects. And because the camera is fixed, we draw an outline so the player can still see the cat when it hides under the 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plan. The next thing we build is a deliberately narrow 3D slice: one desk, the bed, the cat, and the physics-to-AI path working end to end. Every test on the right is a number read off our debug overlay, so the mid-term demo proves the hard parts with measurements, not screenshots. The coupling test is the one that proves our core idea: the same swat must wake him from beside the bed but not from the far wall. Everything else waits until the slice is solid.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lastoneawake.netlify.app/" TargetMode="External"/><Relationship Id="rId1"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ref3d.png"/><Relationship Id="rId3" Type="http://schemas.openxmlformats.org/officeDocument/2006/relationships/image" Target="../media/icon-cube.png"/><Relationship Id="rId4" Type="http://schemas.openxmlformats.org/officeDocument/2006/relationships/image" Target="../media/icon-cubes.png"/><Relationship Id="rId5" Type="http://schemas.openxmlformats.org/officeDocument/2006/relationships/image" Target="../media/icon-moon.png"/><Relationship Id="rId6" Type="http://schemas.openxmlformats.org/officeDocument/2006/relationships/image" Target="../media/image-3-5.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N9"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320"/>
        </a:solidFill>
      </p:bgPr>
    </p:bg>
    <p:spTree>
      <p:nvGrpSpPr>
        <p:cNvPr id="1" name=""/>
        <p:cNvGrpSpPr/>
        <p:nvPr/>
      </p:nvGrpSpPr>
      <p:grpSpPr>
        <a:xfrm>
          <a:off x="0" y="0"/>
          <a:ext cx="0" cy="0"/>
          <a:chOff x="0" y="0"/>
          <a:chExt cx="0" cy="0"/>
        </a:xfrm>
      </p:grpSpPr>
      <p:pic>
        <p:nvPicPr>
          <p:cNvPr id="2" name="Image 0" descr="img/m-000.png">    </p:cNvPr>
          <p:cNvPicPr>
            <a:picLocks noChangeAspect="1"/>
          </p:cNvPicPr>
          <p:nvPr/>
        </p:nvPicPr>
        <p:blipFill>
          <a:blip r:embed="rId1"/>
          <a:srcRect l="50" r="50" t="0" b="0"/>
          <a:stretch/>
        </p:blipFill>
        <p:spPr>
          <a:xfrm>
            <a:off x="4663440" y="0"/>
            <a:ext cx="4480560" cy="5143500"/>
          </a:xfrm>
          <a:prstGeom prst="rect">
            <a:avLst/>
          </a:prstGeom>
        </p:spPr>
      </p:pic>
      <p:sp>
        <p:nvSpPr>
          <p:cNvPr id="3" name="Shape 0"/>
          <p:cNvSpPr/>
          <p:nvPr/>
        </p:nvSpPr>
        <p:spPr>
          <a:xfrm>
            <a:off x="0" y="0"/>
            <a:ext cx="4663440" cy="5143500"/>
          </a:xfrm>
          <a:prstGeom prst="rect">
            <a:avLst/>
          </a:prstGeom>
          <a:solidFill>
            <a:srgbClr val="161320"/>
          </a:solidFill>
          <a:ln w="12700">
            <a:solidFill>
              <a:srgbClr val="161320"/>
            </a:solidFill>
            <a:prstDash val="solid"/>
          </a:ln>
        </p:spPr>
      </p:sp>
      <p:sp>
        <p:nvSpPr>
          <p:cNvPr id="4" name="Shape 1"/>
          <p:cNvSpPr/>
          <p:nvPr/>
        </p:nvSpPr>
        <p:spPr>
          <a:xfrm>
            <a:off x="502920" y="822960"/>
            <a:ext cx="731520" cy="731520"/>
          </a:xfrm>
          <a:prstGeom prst="ellipse">
            <a:avLst/>
          </a:prstGeom>
          <a:solidFill>
            <a:srgbClr val="221D2E"/>
          </a:solidFill>
          <a:ln w="12700">
            <a:solidFill>
              <a:srgbClr val="221D2E"/>
            </a:solidFill>
            <a:prstDash val="solid"/>
          </a:ln>
        </p:spPr>
      </p:sp>
      <p:pic>
        <p:nvPicPr>
          <p:cNvPr id="5" name="Image 1" descr="preencoded.png">    </p:cNvPr>
          <p:cNvPicPr>
            <a:picLocks noChangeAspect="1"/>
          </p:cNvPicPr>
          <p:nvPr/>
        </p:nvPicPr>
        <p:blipFill>
          <a:blip r:embed="rId2"/>
          <a:stretch>
            <a:fillRect/>
          </a:stretch>
        </p:blipFill>
        <p:spPr>
          <a:xfrm>
            <a:off x="685800" y="1005840"/>
            <a:ext cx="365760" cy="365760"/>
          </a:xfrm>
          <a:prstGeom prst="rect">
            <a:avLst/>
          </a:prstGeom>
        </p:spPr>
      </p:pic>
      <p:sp>
        <p:nvSpPr>
          <p:cNvPr id="6" name="Text 2"/>
          <p:cNvSpPr txBox="1"/>
          <p:nvPr/>
        </p:nvSpPr>
        <p:spPr>
          <a:xfrm>
            <a:off x="502920" y="1737360"/>
            <a:ext cx="4023360" cy="822960"/>
          </a:xfrm>
          <a:prstGeom prst="rect">
            <a:avLst/>
          </a:prstGeom>
          <a:noFill/>
          <a:ln/>
        </p:spPr>
        <p:txBody>
          <a:bodyPr wrap="square" lIns="0" tIns="0" rIns="0" bIns="0" rtlCol="0" anchor="ctr"/>
          <a:lstStyle/>
          <a:p>
            <a:pPr indent="0" marL="0">
              <a:buNone/>
            </a:pPr>
            <a:r>
              <a:rPr lang="en-US" sz="4000" b="1" dirty="0">
                <a:solidFill>
                  <a:srgbClr val="F6E6CB"/>
                </a:solidFill>
                <a:latin typeface="Cambria" pitchFamily="34" charset="0"/>
                <a:ea typeface="Cambria" pitchFamily="34" charset="-122"/>
                <a:cs typeface="Cambria" pitchFamily="34" charset="-120"/>
              </a:rPr>
              <a:t>Last One Awake</a:t>
            </a:r>
            <a:endParaRPr lang="en-US" sz="4000" dirty="0"/>
          </a:p>
        </p:txBody>
      </p:sp>
      <p:sp>
        <p:nvSpPr>
          <p:cNvPr id="7" name="Text 3"/>
          <p:cNvSpPr txBox="1"/>
          <p:nvPr/>
        </p:nvSpPr>
        <p:spPr>
          <a:xfrm>
            <a:off x="502920" y="2606040"/>
            <a:ext cx="3840480" cy="822960"/>
          </a:xfrm>
          <a:prstGeom prst="rect">
            <a:avLst/>
          </a:prstGeom>
          <a:noFill/>
          <a:ln/>
        </p:spPr>
        <p:txBody>
          <a:bodyPr wrap="square" lIns="0" tIns="0" rIns="0" bIns="0" rtlCol="0" anchor="ctr"/>
          <a:lstStyle/>
          <a:p>
            <a:pPr indent="0" marL="0">
              <a:buNone/>
            </a:pPr>
            <a:r>
              <a:rPr lang="en-US" sz="1600" i="1" dirty="0">
                <a:solidFill>
                  <a:srgbClr val="B9AFA3"/>
                </a:solidFill>
                <a:latin typeface="Calibri" pitchFamily="34" charset="0"/>
                <a:ea typeface="Calibri" pitchFamily="34" charset="-122"/>
                <a:cs typeface="Calibri" pitchFamily="34" charset="-120"/>
              </a:rPr>
              <a:t>A 3D isometric stealth game. It's 3 a.m. You're the cat. Wreck the apartment before the owner wakes up.</a:t>
            </a:r>
            <a:endParaRPr lang="en-US" sz="1600" dirty="0"/>
          </a:p>
        </p:txBody>
      </p:sp>
      <p:sp>
        <p:nvSpPr>
          <p:cNvPr id="8" name="Text 4"/>
          <p:cNvSpPr txBox="1"/>
          <p:nvPr/>
        </p:nvSpPr>
        <p:spPr>
          <a:xfrm>
            <a:off x="502920" y="4206240"/>
            <a:ext cx="4023360" cy="365760"/>
          </a:xfrm>
          <a:prstGeom prst="rect">
            <a:avLst/>
          </a:prstGeom>
          <a:noFill/>
          <a:ln/>
        </p:spPr>
        <p:txBody>
          <a:bodyPr wrap="square" lIns="0" tIns="0" rIns="0" bIns="0" rtlCol="0" anchor="ctr"/>
          <a:lstStyle/>
          <a:p>
            <a:pPr indent="0" marL="0">
              <a:buNone/>
            </a:pPr>
            <a:r>
              <a:rPr lang="en-US" sz="1100" dirty="0">
                <a:solidFill>
                  <a:srgbClr val="B9AFA3"/>
                </a:solidFill>
                <a:latin typeface="Calibri" pitchFamily="34" charset="0"/>
                <a:ea typeface="Calibri" pitchFamily="34" charset="-122"/>
                <a:cs typeface="Calibri" pitchFamily="34" charset="-120"/>
              </a:rPr>
              <a:t>Rushi Patel · Dharm Patel · Antara Thapliyal · Christina Ross</a:t>
            </a:r>
            <a:endParaRPr lang="en-US" sz="1100" dirty="0"/>
          </a:p>
        </p:txBody>
      </p:sp>
      <p:sp>
        <p:nvSpPr>
          <p:cNvPr id="9" name="Text 5"/>
          <p:cNvSpPr txBox="1"/>
          <p:nvPr/>
        </p:nvSpPr>
        <p:spPr>
          <a:xfrm>
            <a:off x="502920" y="4526280"/>
            <a:ext cx="4023360" cy="274320"/>
          </a:xfrm>
          <a:prstGeom prst="rect">
            <a:avLst/>
          </a:prstGeom>
          <a:noFill/>
          <a:ln/>
        </p:spPr>
        <p:txBody>
          <a:bodyPr wrap="square" lIns="0" tIns="0" rIns="0" bIns="0" rtlCol="0" anchor="ctr"/>
          <a:lstStyle/>
          <a:p>
            <a:pPr indent="0" marL="0">
              <a:buNone/>
            </a:pPr>
            <a:r>
              <a:rPr lang="en-US" sz="1000" dirty="0">
                <a:solidFill>
                  <a:srgbClr val="B9AFA3"/>
                </a:solidFill>
                <a:latin typeface="Calibri" pitchFamily="34" charset="0"/>
                <a:ea typeface="Calibri" pitchFamily="34" charset="-122"/>
                <a:cs typeface="Calibri" pitchFamily="34" charset="-120"/>
              </a:rPr>
              <a:t>CS 549 · Project briefing · Sept 24,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3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F6E6CB"/>
                </a:solidFill>
                <a:latin typeface="Cambria" pitchFamily="34" charset="0"/>
                <a:ea typeface="Cambria" pitchFamily="34" charset="-122"/>
                <a:cs typeface="Cambria" pitchFamily="34" charset="-120"/>
              </a:rPr>
              <a:t>The loop</a:t>
            </a:r>
            <a:endParaRPr lang="en-US" sz="3200" dirty="0"/>
          </a:p>
        </p:txBody>
      </p:sp>
      <p:sp>
        <p:nvSpPr>
          <p:cNvPr id="3" name="Shape 1"/>
          <p:cNvSpPr/>
          <p:nvPr/>
        </p:nvSpPr>
        <p:spPr>
          <a:xfrm>
            <a:off x="457200" y="1737360"/>
            <a:ext cx="1463040" cy="1737360"/>
          </a:xfrm>
          <a:prstGeom prst="roundRect">
            <a:avLst>
              <a:gd name="adj" fmla="val 7500"/>
            </a:avLst>
          </a:prstGeom>
          <a:solidFill>
            <a:srgbClr val="221D2E"/>
          </a:solidFill>
          <a:ln w="12700">
            <a:solidFill>
              <a:srgbClr val="221D2E"/>
            </a:solidFill>
            <a:prstDash val="solid"/>
          </a:ln>
        </p:spPr>
      </p:sp>
      <p:sp>
        <p:nvSpPr>
          <p:cNvPr id="4" name="Shape 2"/>
          <p:cNvSpPr/>
          <p:nvPr/>
        </p:nvSpPr>
        <p:spPr>
          <a:xfrm>
            <a:off x="914400" y="1920240"/>
            <a:ext cx="548640" cy="548640"/>
          </a:xfrm>
          <a:prstGeom prst="ellipse">
            <a:avLst/>
          </a:prstGeom>
          <a:solidFill>
            <a:srgbClr val="161320"/>
          </a:solidFill>
          <a:ln w="12700">
            <a:solidFill>
              <a:srgbClr val="161320"/>
            </a:solidFill>
            <a:prstDash val="solid"/>
          </a:ln>
        </p:spPr>
      </p:sp>
      <p:pic>
        <p:nvPicPr>
          <p:cNvPr id="5" name="Image 0" descr="preencoded.png">    </p:cNvPr>
          <p:cNvPicPr>
            <a:picLocks noChangeAspect="1"/>
          </p:cNvPicPr>
          <p:nvPr/>
        </p:nvPicPr>
        <p:blipFill>
          <a:blip r:embed="rId1"/>
          <a:stretch>
            <a:fillRect/>
          </a:stretch>
        </p:blipFill>
        <p:spPr>
          <a:xfrm>
            <a:off x="1051560" y="2057400"/>
            <a:ext cx="274320" cy="274320"/>
          </a:xfrm>
          <a:prstGeom prst="rect">
            <a:avLst/>
          </a:prstGeom>
        </p:spPr>
      </p:pic>
      <p:sp>
        <p:nvSpPr>
          <p:cNvPr id="6" name="Text 3"/>
          <p:cNvSpPr txBox="1"/>
          <p:nvPr/>
        </p:nvSpPr>
        <p:spPr>
          <a:xfrm>
            <a:off x="457200" y="2560320"/>
            <a:ext cx="1463040" cy="365760"/>
          </a:xfrm>
          <a:prstGeom prst="rect">
            <a:avLst/>
          </a:prstGeom>
          <a:noFill/>
          <a:ln/>
        </p:spPr>
        <p:txBody>
          <a:bodyPr wrap="square" lIns="0" tIns="0" rIns="0" bIns="0" rtlCol="0" anchor="ctr"/>
          <a:lstStyle/>
          <a:p>
            <a:pPr algn="ctr" indent="0" marL="0">
              <a:buNone/>
            </a:pPr>
            <a:r>
              <a:rPr lang="en-US" sz="1800" b="1" dirty="0">
                <a:solidFill>
                  <a:srgbClr val="F6E6CB"/>
                </a:solidFill>
                <a:latin typeface="Cambria" pitchFamily="34" charset="0"/>
                <a:ea typeface="Cambria" pitchFamily="34" charset="-122"/>
                <a:cs typeface="Cambria" pitchFamily="34" charset="-120"/>
              </a:rPr>
              <a:t>Swat</a:t>
            </a:r>
            <a:endParaRPr lang="en-US" sz="1800" dirty="0"/>
          </a:p>
        </p:txBody>
      </p:sp>
      <p:sp>
        <p:nvSpPr>
          <p:cNvPr id="7" name="Text 4"/>
          <p:cNvSpPr txBox="1"/>
          <p:nvPr/>
        </p:nvSpPr>
        <p:spPr>
          <a:xfrm>
            <a:off x="548640" y="2926080"/>
            <a:ext cx="1280160" cy="411480"/>
          </a:xfrm>
          <a:prstGeom prst="rect">
            <a:avLst/>
          </a:prstGeom>
          <a:noFill/>
          <a:ln/>
        </p:spPr>
        <p:txBody>
          <a:bodyPr wrap="square" lIns="0" tIns="0" rIns="0" bIns="0" rtlCol="0" anchor="ctr"/>
          <a:lstStyle/>
          <a:p>
            <a:pPr algn="ctr" indent="0" marL="0">
              <a:buNone/>
            </a:pPr>
            <a:r>
              <a:rPr lang="en-US" sz="1200" dirty="0">
                <a:solidFill>
                  <a:srgbClr val="B9AFA3"/>
                </a:solidFill>
                <a:latin typeface="Calibri" pitchFamily="34" charset="0"/>
                <a:ea typeface="Calibri" pitchFamily="34" charset="-122"/>
                <a:cs typeface="Calibri" pitchFamily="34" charset="-120"/>
              </a:rPr>
              <a:t>player input</a:t>
            </a:r>
            <a:endParaRPr lang="en-US" sz="1200" dirty="0"/>
          </a:p>
        </p:txBody>
      </p:sp>
      <p:pic>
        <p:nvPicPr>
          <p:cNvPr id="8" name="Image 1" descr="preencoded.png">    </p:cNvPr>
          <p:cNvPicPr>
            <a:picLocks noChangeAspect="1"/>
          </p:cNvPicPr>
          <p:nvPr/>
        </p:nvPicPr>
        <p:blipFill>
          <a:blip r:embed="rId2"/>
          <a:stretch>
            <a:fillRect/>
          </a:stretch>
        </p:blipFill>
        <p:spPr>
          <a:xfrm>
            <a:off x="1938528" y="2450592"/>
            <a:ext cx="146304" cy="146304"/>
          </a:xfrm>
          <a:prstGeom prst="rect">
            <a:avLst/>
          </a:prstGeom>
        </p:spPr>
      </p:pic>
      <p:sp>
        <p:nvSpPr>
          <p:cNvPr id="9" name="Shape 5"/>
          <p:cNvSpPr/>
          <p:nvPr/>
        </p:nvSpPr>
        <p:spPr>
          <a:xfrm>
            <a:off x="2103120" y="1737360"/>
            <a:ext cx="1463040" cy="1737360"/>
          </a:xfrm>
          <a:prstGeom prst="roundRect">
            <a:avLst>
              <a:gd name="adj" fmla="val 7500"/>
            </a:avLst>
          </a:prstGeom>
          <a:solidFill>
            <a:srgbClr val="221D2E"/>
          </a:solidFill>
          <a:ln w="12700">
            <a:solidFill>
              <a:srgbClr val="221D2E"/>
            </a:solidFill>
            <a:prstDash val="solid"/>
          </a:ln>
        </p:spPr>
      </p:sp>
      <p:sp>
        <p:nvSpPr>
          <p:cNvPr id="10" name="Shape 6"/>
          <p:cNvSpPr/>
          <p:nvPr/>
        </p:nvSpPr>
        <p:spPr>
          <a:xfrm>
            <a:off x="2560320" y="1920240"/>
            <a:ext cx="548640" cy="548640"/>
          </a:xfrm>
          <a:prstGeom prst="ellipse">
            <a:avLst/>
          </a:prstGeom>
          <a:solidFill>
            <a:srgbClr val="161320"/>
          </a:solidFill>
          <a:ln w="12700">
            <a:solidFill>
              <a:srgbClr val="161320"/>
            </a:solidFill>
            <a:prstDash val="solid"/>
          </a:ln>
        </p:spPr>
      </p:sp>
      <p:pic>
        <p:nvPicPr>
          <p:cNvPr id="11" name="Image 2" descr="preencoded.png">    </p:cNvPr>
          <p:cNvPicPr>
            <a:picLocks noChangeAspect="1"/>
          </p:cNvPicPr>
          <p:nvPr/>
        </p:nvPicPr>
        <p:blipFill>
          <a:blip r:embed="rId3"/>
          <a:stretch>
            <a:fillRect/>
          </a:stretch>
        </p:blipFill>
        <p:spPr>
          <a:xfrm>
            <a:off x="2697480" y="2057400"/>
            <a:ext cx="274320" cy="274320"/>
          </a:xfrm>
          <a:prstGeom prst="rect">
            <a:avLst/>
          </a:prstGeom>
        </p:spPr>
      </p:pic>
      <p:sp>
        <p:nvSpPr>
          <p:cNvPr id="12" name="Text 7"/>
          <p:cNvSpPr txBox="1"/>
          <p:nvPr/>
        </p:nvSpPr>
        <p:spPr>
          <a:xfrm>
            <a:off x="2103120" y="2560320"/>
            <a:ext cx="1463040" cy="365760"/>
          </a:xfrm>
          <a:prstGeom prst="rect">
            <a:avLst/>
          </a:prstGeom>
          <a:noFill/>
          <a:ln/>
        </p:spPr>
        <p:txBody>
          <a:bodyPr wrap="square" lIns="0" tIns="0" rIns="0" bIns="0" rtlCol="0" anchor="ctr"/>
          <a:lstStyle/>
          <a:p>
            <a:pPr algn="ctr" indent="0" marL="0">
              <a:buNone/>
            </a:pPr>
            <a:r>
              <a:rPr lang="en-US" sz="1800" b="1" dirty="0">
                <a:solidFill>
                  <a:srgbClr val="F6E6CB"/>
                </a:solidFill>
                <a:latin typeface="Cambria" pitchFamily="34" charset="0"/>
                <a:ea typeface="Cambria" pitchFamily="34" charset="-122"/>
                <a:cs typeface="Cambria" pitchFamily="34" charset="-120"/>
              </a:rPr>
              <a:t>Crash</a:t>
            </a:r>
            <a:endParaRPr lang="en-US" sz="1800" dirty="0"/>
          </a:p>
        </p:txBody>
      </p:sp>
      <p:sp>
        <p:nvSpPr>
          <p:cNvPr id="13" name="Text 8"/>
          <p:cNvSpPr txBox="1"/>
          <p:nvPr/>
        </p:nvSpPr>
        <p:spPr>
          <a:xfrm>
            <a:off x="2194560" y="2926080"/>
            <a:ext cx="1280160" cy="411480"/>
          </a:xfrm>
          <a:prstGeom prst="rect">
            <a:avLst/>
          </a:prstGeom>
          <a:noFill/>
          <a:ln/>
        </p:spPr>
        <p:txBody>
          <a:bodyPr wrap="square" lIns="0" tIns="0" rIns="0" bIns="0" rtlCol="0" anchor="ctr"/>
          <a:lstStyle/>
          <a:p>
            <a:pPr algn="ctr" indent="0" marL="0">
              <a:buNone/>
            </a:pPr>
            <a:r>
              <a:rPr lang="en-US" sz="1200" dirty="0">
                <a:solidFill>
                  <a:srgbClr val="B9AFA3"/>
                </a:solidFill>
                <a:latin typeface="Calibri" pitchFamily="34" charset="0"/>
                <a:ea typeface="Calibri" pitchFamily="34" charset="-122"/>
                <a:cs typeface="Calibri" pitchFamily="34" charset="-120"/>
              </a:rPr>
              <a:t>rigid-body physics</a:t>
            </a:r>
            <a:endParaRPr lang="en-US" sz="1200" dirty="0"/>
          </a:p>
        </p:txBody>
      </p:sp>
      <p:pic>
        <p:nvPicPr>
          <p:cNvPr id="14" name="Image 3" descr="preencoded.png">    </p:cNvPr>
          <p:cNvPicPr>
            <a:picLocks noChangeAspect="1"/>
          </p:cNvPicPr>
          <p:nvPr/>
        </p:nvPicPr>
        <p:blipFill>
          <a:blip r:embed="rId4"/>
          <a:stretch>
            <a:fillRect/>
          </a:stretch>
        </p:blipFill>
        <p:spPr>
          <a:xfrm>
            <a:off x="3584448" y="2450592"/>
            <a:ext cx="146304" cy="146304"/>
          </a:xfrm>
          <a:prstGeom prst="rect">
            <a:avLst/>
          </a:prstGeom>
        </p:spPr>
      </p:pic>
      <p:sp>
        <p:nvSpPr>
          <p:cNvPr id="15" name="Shape 9"/>
          <p:cNvSpPr/>
          <p:nvPr/>
        </p:nvSpPr>
        <p:spPr>
          <a:xfrm>
            <a:off x="3749040" y="1737360"/>
            <a:ext cx="1463040" cy="1737360"/>
          </a:xfrm>
          <a:prstGeom prst="roundRect">
            <a:avLst>
              <a:gd name="adj" fmla="val 7500"/>
            </a:avLst>
          </a:prstGeom>
          <a:solidFill>
            <a:srgbClr val="221D2E"/>
          </a:solidFill>
          <a:ln w="12700">
            <a:solidFill>
              <a:srgbClr val="221D2E"/>
            </a:solidFill>
            <a:prstDash val="solid"/>
          </a:ln>
        </p:spPr>
      </p:sp>
      <p:sp>
        <p:nvSpPr>
          <p:cNvPr id="16" name="Shape 10"/>
          <p:cNvSpPr/>
          <p:nvPr/>
        </p:nvSpPr>
        <p:spPr>
          <a:xfrm>
            <a:off x="4206240" y="1920240"/>
            <a:ext cx="548640" cy="548640"/>
          </a:xfrm>
          <a:prstGeom prst="ellipse">
            <a:avLst/>
          </a:prstGeom>
          <a:solidFill>
            <a:srgbClr val="161320"/>
          </a:solidFill>
          <a:ln w="12700">
            <a:solidFill>
              <a:srgbClr val="161320"/>
            </a:solidFill>
            <a:prstDash val="solid"/>
          </a:ln>
        </p:spPr>
      </p:sp>
      <p:pic>
        <p:nvPicPr>
          <p:cNvPr id="17" name="Image 4" descr="preencoded.png">    </p:cNvPr>
          <p:cNvPicPr>
            <a:picLocks noChangeAspect="1"/>
          </p:cNvPicPr>
          <p:nvPr/>
        </p:nvPicPr>
        <p:blipFill>
          <a:blip r:embed="rId5"/>
          <a:stretch>
            <a:fillRect/>
          </a:stretch>
        </p:blipFill>
        <p:spPr>
          <a:xfrm>
            <a:off x="4343400" y="2057400"/>
            <a:ext cx="274320" cy="274320"/>
          </a:xfrm>
          <a:prstGeom prst="rect">
            <a:avLst/>
          </a:prstGeom>
        </p:spPr>
      </p:pic>
      <p:sp>
        <p:nvSpPr>
          <p:cNvPr id="18" name="Text 11"/>
          <p:cNvSpPr txBox="1"/>
          <p:nvPr/>
        </p:nvSpPr>
        <p:spPr>
          <a:xfrm>
            <a:off x="3749040" y="2560320"/>
            <a:ext cx="1463040" cy="365760"/>
          </a:xfrm>
          <a:prstGeom prst="rect">
            <a:avLst/>
          </a:prstGeom>
          <a:noFill/>
          <a:ln/>
        </p:spPr>
        <p:txBody>
          <a:bodyPr wrap="square" lIns="0" tIns="0" rIns="0" bIns="0" rtlCol="0" anchor="ctr"/>
          <a:lstStyle/>
          <a:p>
            <a:pPr algn="ctr" indent="0" marL="0">
              <a:buNone/>
            </a:pPr>
            <a:r>
              <a:rPr lang="en-US" sz="1800" b="1" dirty="0">
                <a:solidFill>
                  <a:srgbClr val="F6E6CB"/>
                </a:solidFill>
                <a:latin typeface="Cambria" pitchFamily="34" charset="0"/>
                <a:ea typeface="Cambria" pitchFamily="34" charset="-122"/>
                <a:cs typeface="Cambria" pitchFamily="34" charset="-120"/>
              </a:rPr>
              <a:t>Noise</a:t>
            </a:r>
            <a:endParaRPr lang="en-US" sz="1800" dirty="0"/>
          </a:p>
        </p:txBody>
      </p:sp>
      <p:sp>
        <p:nvSpPr>
          <p:cNvPr id="19" name="Text 12"/>
          <p:cNvSpPr txBox="1"/>
          <p:nvPr/>
        </p:nvSpPr>
        <p:spPr>
          <a:xfrm>
            <a:off x="3840480" y="2926080"/>
            <a:ext cx="1280160" cy="411480"/>
          </a:xfrm>
          <a:prstGeom prst="rect">
            <a:avLst/>
          </a:prstGeom>
          <a:noFill/>
          <a:ln/>
        </p:spPr>
        <p:txBody>
          <a:bodyPr wrap="square" lIns="0" tIns="0" rIns="0" bIns="0" rtlCol="0" anchor="ctr"/>
          <a:lstStyle/>
          <a:p>
            <a:pPr algn="ctr" indent="0" marL="0">
              <a:buNone/>
            </a:pPr>
            <a:r>
              <a:rPr lang="en-US" sz="1200" dirty="0">
                <a:solidFill>
                  <a:srgbClr val="B9AFA3"/>
                </a:solidFill>
                <a:latin typeface="Calibri" pitchFamily="34" charset="0"/>
                <a:ea typeface="Calibri" pitchFamily="34" charset="-122"/>
                <a:cs typeface="Calibri" pitchFamily="34" charset="-120"/>
              </a:rPr>
              <a:t>from contact impulse</a:t>
            </a:r>
            <a:endParaRPr lang="en-US" sz="1200" dirty="0"/>
          </a:p>
        </p:txBody>
      </p:sp>
      <p:pic>
        <p:nvPicPr>
          <p:cNvPr id="20" name="Image 5" descr="preencoded.png">    </p:cNvPr>
          <p:cNvPicPr>
            <a:picLocks noChangeAspect="1"/>
          </p:cNvPicPr>
          <p:nvPr/>
        </p:nvPicPr>
        <p:blipFill>
          <a:blip r:embed="rId6"/>
          <a:stretch>
            <a:fillRect/>
          </a:stretch>
        </p:blipFill>
        <p:spPr>
          <a:xfrm>
            <a:off x="5230368" y="2450592"/>
            <a:ext cx="146304" cy="146304"/>
          </a:xfrm>
          <a:prstGeom prst="rect">
            <a:avLst/>
          </a:prstGeom>
        </p:spPr>
      </p:pic>
      <p:sp>
        <p:nvSpPr>
          <p:cNvPr id="21" name="Shape 13"/>
          <p:cNvSpPr/>
          <p:nvPr/>
        </p:nvSpPr>
        <p:spPr>
          <a:xfrm>
            <a:off x="5394960" y="1737360"/>
            <a:ext cx="1463040" cy="1737360"/>
          </a:xfrm>
          <a:prstGeom prst="roundRect">
            <a:avLst>
              <a:gd name="adj" fmla="val 7500"/>
            </a:avLst>
          </a:prstGeom>
          <a:solidFill>
            <a:srgbClr val="221D2E"/>
          </a:solidFill>
          <a:ln w="12700">
            <a:solidFill>
              <a:srgbClr val="221D2E"/>
            </a:solidFill>
            <a:prstDash val="solid"/>
          </a:ln>
        </p:spPr>
      </p:sp>
      <p:sp>
        <p:nvSpPr>
          <p:cNvPr id="22" name="Shape 14"/>
          <p:cNvSpPr/>
          <p:nvPr/>
        </p:nvSpPr>
        <p:spPr>
          <a:xfrm>
            <a:off x="5852160" y="1920240"/>
            <a:ext cx="548640" cy="548640"/>
          </a:xfrm>
          <a:prstGeom prst="ellipse">
            <a:avLst/>
          </a:prstGeom>
          <a:solidFill>
            <a:srgbClr val="161320"/>
          </a:solidFill>
          <a:ln w="12700">
            <a:solidFill>
              <a:srgbClr val="161320"/>
            </a:solidFill>
            <a:prstDash val="solid"/>
          </a:ln>
        </p:spPr>
      </p:sp>
      <p:pic>
        <p:nvPicPr>
          <p:cNvPr id="23" name="Image 6" descr="preencoded.png">    </p:cNvPr>
          <p:cNvPicPr>
            <a:picLocks noChangeAspect="1"/>
          </p:cNvPicPr>
          <p:nvPr/>
        </p:nvPicPr>
        <p:blipFill>
          <a:blip r:embed="rId7"/>
          <a:stretch>
            <a:fillRect/>
          </a:stretch>
        </p:blipFill>
        <p:spPr>
          <a:xfrm>
            <a:off x="5989320" y="2057400"/>
            <a:ext cx="274320" cy="274320"/>
          </a:xfrm>
          <a:prstGeom prst="rect">
            <a:avLst/>
          </a:prstGeom>
        </p:spPr>
      </p:pic>
      <p:sp>
        <p:nvSpPr>
          <p:cNvPr id="24" name="Text 15"/>
          <p:cNvSpPr txBox="1"/>
          <p:nvPr/>
        </p:nvSpPr>
        <p:spPr>
          <a:xfrm>
            <a:off x="5394960" y="2560320"/>
            <a:ext cx="1463040" cy="365760"/>
          </a:xfrm>
          <a:prstGeom prst="rect">
            <a:avLst/>
          </a:prstGeom>
          <a:noFill/>
          <a:ln/>
        </p:spPr>
        <p:txBody>
          <a:bodyPr wrap="square" lIns="0" tIns="0" rIns="0" bIns="0" rtlCol="0" anchor="ctr"/>
          <a:lstStyle/>
          <a:p>
            <a:pPr algn="ctr" indent="0" marL="0">
              <a:buNone/>
            </a:pPr>
            <a:r>
              <a:rPr lang="en-US" sz="1800" b="1" dirty="0">
                <a:solidFill>
                  <a:srgbClr val="F6E6CB"/>
                </a:solidFill>
                <a:latin typeface="Cambria" pitchFamily="34" charset="0"/>
                <a:ea typeface="Cambria" pitchFamily="34" charset="-122"/>
                <a:cs typeface="Cambria" pitchFamily="34" charset="-120"/>
              </a:rPr>
              <a:t>Wake meter</a:t>
            </a:r>
            <a:endParaRPr lang="en-US" sz="1800" dirty="0"/>
          </a:p>
        </p:txBody>
      </p:sp>
      <p:sp>
        <p:nvSpPr>
          <p:cNvPr id="25" name="Text 16"/>
          <p:cNvSpPr txBox="1"/>
          <p:nvPr/>
        </p:nvSpPr>
        <p:spPr>
          <a:xfrm>
            <a:off x="5486400" y="2926080"/>
            <a:ext cx="1280160" cy="411480"/>
          </a:xfrm>
          <a:prstGeom prst="rect">
            <a:avLst/>
          </a:prstGeom>
          <a:noFill/>
          <a:ln/>
        </p:spPr>
        <p:txBody>
          <a:bodyPr wrap="square" lIns="0" tIns="0" rIns="0" bIns="0" rtlCol="0" anchor="ctr"/>
          <a:lstStyle/>
          <a:p>
            <a:pPr algn="ctr" indent="0" marL="0">
              <a:buNone/>
            </a:pPr>
            <a:r>
              <a:rPr lang="en-US" sz="1200" dirty="0">
                <a:solidFill>
                  <a:srgbClr val="B9AFA3"/>
                </a:solidFill>
                <a:latin typeface="Calibri" pitchFamily="34" charset="0"/>
                <a:ea typeface="Calibri" pitchFamily="34" charset="-122"/>
                <a:cs typeface="Calibri" pitchFamily="34" charset="-120"/>
              </a:rPr>
              <a:t>attenuated by distance</a:t>
            </a:r>
            <a:endParaRPr lang="en-US" sz="1200" dirty="0"/>
          </a:p>
        </p:txBody>
      </p:sp>
      <p:pic>
        <p:nvPicPr>
          <p:cNvPr id="26" name="Image 7" descr="preencoded.png">    </p:cNvPr>
          <p:cNvPicPr>
            <a:picLocks noChangeAspect="1"/>
          </p:cNvPicPr>
          <p:nvPr/>
        </p:nvPicPr>
        <p:blipFill>
          <a:blip r:embed="rId8"/>
          <a:stretch>
            <a:fillRect/>
          </a:stretch>
        </p:blipFill>
        <p:spPr>
          <a:xfrm>
            <a:off x="6876288" y="2450592"/>
            <a:ext cx="146304" cy="146304"/>
          </a:xfrm>
          <a:prstGeom prst="rect">
            <a:avLst/>
          </a:prstGeom>
        </p:spPr>
      </p:pic>
      <p:sp>
        <p:nvSpPr>
          <p:cNvPr id="27" name="Shape 17"/>
          <p:cNvSpPr/>
          <p:nvPr/>
        </p:nvSpPr>
        <p:spPr>
          <a:xfrm>
            <a:off x="7040880" y="1737360"/>
            <a:ext cx="1463040" cy="1737360"/>
          </a:xfrm>
          <a:prstGeom prst="roundRect">
            <a:avLst>
              <a:gd name="adj" fmla="val 7500"/>
            </a:avLst>
          </a:prstGeom>
          <a:solidFill>
            <a:srgbClr val="221D2E"/>
          </a:solidFill>
          <a:ln w="12700">
            <a:solidFill>
              <a:srgbClr val="221D2E"/>
            </a:solidFill>
            <a:prstDash val="solid"/>
          </a:ln>
        </p:spPr>
      </p:sp>
      <p:sp>
        <p:nvSpPr>
          <p:cNvPr id="28" name="Shape 18"/>
          <p:cNvSpPr/>
          <p:nvPr/>
        </p:nvSpPr>
        <p:spPr>
          <a:xfrm>
            <a:off x="7498080" y="1920240"/>
            <a:ext cx="548640" cy="548640"/>
          </a:xfrm>
          <a:prstGeom prst="ellipse">
            <a:avLst/>
          </a:prstGeom>
          <a:solidFill>
            <a:srgbClr val="161320"/>
          </a:solidFill>
          <a:ln w="12700">
            <a:solidFill>
              <a:srgbClr val="161320"/>
            </a:solidFill>
            <a:prstDash val="solid"/>
          </a:ln>
        </p:spPr>
      </p:sp>
      <p:pic>
        <p:nvPicPr>
          <p:cNvPr id="29" name="Image 8" descr="preencoded.png">    </p:cNvPr>
          <p:cNvPicPr>
            <a:picLocks noChangeAspect="1"/>
          </p:cNvPicPr>
          <p:nvPr/>
        </p:nvPicPr>
        <p:blipFill>
          <a:blip r:embed="rId9"/>
          <a:stretch>
            <a:fillRect/>
          </a:stretch>
        </p:blipFill>
        <p:spPr>
          <a:xfrm>
            <a:off x="7635240" y="2057400"/>
            <a:ext cx="274320" cy="274320"/>
          </a:xfrm>
          <a:prstGeom prst="rect">
            <a:avLst/>
          </a:prstGeom>
        </p:spPr>
      </p:pic>
      <p:sp>
        <p:nvSpPr>
          <p:cNvPr id="30" name="Text 19"/>
          <p:cNvSpPr txBox="1"/>
          <p:nvPr/>
        </p:nvSpPr>
        <p:spPr>
          <a:xfrm>
            <a:off x="7040880" y="2560320"/>
            <a:ext cx="1463040" cy="365760"/>
          </a:xfrm>
          <a:prstGeom prst="rect">
            <a:avLst/>
          </a:prstGeom>
          <a:noFill/>
          <a:ln/>
        </p:spPr>
        <p:txBody>
          <a:bodyPr wrap="square" lIns="0" tIns="0" rIns="0" bIns="0" rtlCol="0" anchor="ctr"/>
          <a:lstStyle/>
          <a:p>
            <a:pPr algn="ctr" indent="0" marL="0">
              <a:buNone/>
            </a:pPr>
            <a:r>
              <a:rPr lang="en-US" sz="1800" b="1" dirty="0">
                <a:solidFill>
                  <a:srgbClr val="F6E6CB"/>
                </a:solidFill>
                <a:latin typeface="Cambria" pitchFamily="34" charset="0"/>
                <a:ea typeface="Cambria" pitchFamily="34" charset="-122"/>
                <a:cs typeface="Cambria" pitchFamily="34" charset="-120"/>
              </a:rPr>
              <a:t>Owner hunts</a:t>
            </a:r>
            <a:endParaRPr lang="en-US" sz="1800" dirty="0"/>
          </a:p>
        </p:txBody>
      </p:sp>
      <p:sp>
        <p:nvSpPr>
          <p:cNvPr id="31" name="Text 20"/>
          <p:cNvSpPr txBox="1"/>
          <p:nvPr/>
        </p:nvSpPr>
        <p:spPr>
          <a:xfrm>
            <a:off x="7132320" y="2926080"/>
            <a:ext cx="1280160" cy="411480"/>
          </a:xfrm>
          <a:prstGeom prst="rect">
            <a:avLst/>
          </a:prstGeom>
          <a:noFill/>
          <a:ln/>
        </p:spPr>
        <p:txBody>
          <a:bodyPr wrap="square" lIns="0" tIns="0" rIns="0" bIns="0" rtlCol="0" anchor="ctr"/>
          <a:lstStyle/>
          <a:p>
            <a:pPr algn="ctr" indent="0" marL="0">
              <a:buNone/>
            </a:pPr>
            <a:r>
              <a:rPr lang="en-US" sz="1200" dirty="0">
                <a:solidFill>
                  <a:srgbClr val="B9AFA3"/>
                </a:solidFill>
                <a:latin typeface="Calibri" pitchFamily="34" charset="0"/>
                <a:ea typeface="Calibri" pitchFamily="34" charset="-122"/>
                <a:cs typeface="Calibri" pitchFamily="34" charset="-120"/>
              </a:rPr>
              <a:t>behavior tree</a:t>
            </a:r>
            <a:endParaRPr lang="en-US" sz="1200" dirty="0"/>
          </a:p>
        </p:txBody>
      </p:sp>
      <p:sp>
        <p:nvSpPr>
          <p:cNvPr id="32" name="Text 21"/>
          <p:cNvSpPr txBox="1"/>
          <p:nvPr/>
        </p:nvSpPr>
        <p:spPr>
          <a:xfrm>
            <a:off x="457200" y="3840480"/>
            <a:ext cx="8229600" cy="640080"/>
          </a:xfrm>
          <a:prstGeom prst="rect">
            <a:avLst/>
          </a:prstGeom>
          <a:noFill/>
          <a:ln/>
        </p:spPr>
        <p:txBody>
          <a:bodyPr wrap="square" lIns="0" tIns="0" rIns="0" bIns="0" rtlCol="0" anchor="ctr"/>
          <a:lstStyle/>
          <a:p>
            <a:pPr indent="0" marL="0">
              <a:buNone/>
            </a:pPr>
            <a:r>
              <a:rPr lang="en-US" sz="1500" dirty="0">
                <a:solidFill>
                  <a:srgbClr val="F6E6CB"/>
                </a:solidFill>
                <a:latin typeface="Calibri" pitchFamily="34" charset="0"/>
                <a:ea typeface="Calibri" pitchFamily="34" charset="-122"/>
                <a:cs typeface="Calibri" pitchFamily="34" charset="-120"/>
              </a:rPr>
              <a:t>The physics solver's contact impulses are the input to the AI's perception. The two systems share one data path.</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3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F6E6CB"/>
                </a:solidFill>
                <a:latin typeface="Cambria" pitchFamily="34" charset="0"/>
                <a:ea typeface="Cambria" pitchFamily="34" charset="-122"/>
                <a:cs typeface="Cambria" pitchFamily="34" charset="-120"/>
              </a:rPr>
              <a:t>Live demo: the 2D plan</a:t>
            </a:r>
            <a:endParaRPr lang="en-US" sz="3200" dirty="0"/>
          </a:p>
        </p:txBody>
      </p:sp>
      <p:pic>
        <p:nvPicPr>
          <p:cNvPr id="3" name="Image 0" descr="img/m-001.png">    </p:cNvPr>
          <p:cNvPicPr>
            <a:picLocks noChangeAspect="1"/>
          </p:cNvPicPr>
          <p:nvPr/>
        </p:nvPicPr>
        <p:blipFill>
          <a:blip r:embed="rId1"/>
          <a:stretch>
            <a:fillRect/>
          </a:stretch>
        </p:blipFill>
        <p:spPr>
          <a:xfrm>
            <a:off x="4754880" y="1143000"/>
            <a:ext cx="3931920" cy="2148840"/>
          </a:xfrm>
          <a:prstGeom prst="rect">
            <a:avLst/>
          </a:prstGeom>
        </p:spPr>
      </p:pic>
      <p:sp>
        <p:nvSpPr>
          <p:cNvPr id="4" name="Text 1">
            <a:hlinkClick r:id="rId2" tooltip=""/>
          </p:cNvPr>
          <p:cNvSpPr txBox="1"/>
          <p:nvPr/>
        </p:nvSpPr>
        <p:spPr>
          <a:xfrm>
            <a:off x="457200" y="1143000"/>
            <a:ext cx="4023360" cy="457200"/>
          </a:xfrm>
          <a:prstGeom prst="rect">
            <a:avLst/>
          </a:prstGeom>
          <a:noFill/>
          <a:ln/>
        </p:spPr>
        <p:txBody>
          <a:bodyPr wrap="square" lIns="0" tIns="0" rIns="0" bIns="0" rtlCol="0" anchor="ctr"/>
          <a:lstStyle/>
          <a:p>
            <a:pPr indent="0" marL="0">
              <a:buNone/>
            </a:pPr>
            <a:r>
              <a:rPr lang="en-US" sz="2000" b="1" u="sng" dirty="0">
                <a:solidFill>
                  <a:srgbClr val="E8A33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lastoneawake.netlify.app</a:t>
            </a:r>
            <a:endParaRPr lang="en-US" sz="2000" dirty="0"/>
          </a:p>
        </p:txBody>
      </p:sp>
      <p:sp>
        <p:nvSpPr>
          <p:cNvPr id="5" name="Text 2"/>
          <p:cNvSpPr txBox="1"/>
          <p:nvPr/>
        </p:nvSpPr>
        <p:spPr>
          <a:xfrm>
            <a:off x="457200" y="1691640"/>
            <a:ext cx="4023360" cy="365760"/>
          </a:xfrm>
          <a:prstGeom prst="rect">
            <a:avLst/>
          </a:prstGeom>
          <a:noFill/>
          <a:ln/>
        </p:spPr>
        <p:txBody>
          <a:bodyPr wrap="square" lIns="0" tIns="0" rIns="0" bIns="0" rtlCol="0" anchor="ctr"/>
          <a:lstStyle/>
          <a:p>
            <a:pPr indent="0" marL="0">
              <a:buNone/>
            </a:pPr>
            <a:r>
              <a:rPr lang="en-US" sz="1600" b="1" dirty="0">
                <a:solidFill>
                  <a:srgbClr val="F6E6CB"/>
                </a:solidFill>
                <a:latin typeface="Cambria" pitchFamily="34" charset="0"/>
                <a:ea typeface="Cambria" pitchFamily="34" charset="-122"/>
                <a:cs typeface="Cambria" pitchFamily="34" charset="-120"/>
              </a:rPr>
              <a:t>What to watch for</a:t>
            </a:r>
            <a:endParaRPr lang="en-US" sz="1600" dirty="0"/>
          </a:p>
        </p:txBody>
      </p:sp>
      <p:sp>
        <p:nvSpPr>
          <p:cNvPr id="6" name="Shape 3"/>
          <p:cNvSpPr/>
          <p:nvPr/>
        </p:nvSpPr>
        <p:spPr>
          <a:xfrm>
            <a:off x="457200" y="2148840"/>
            <a:ext cx="384048" cy="384048"/>
          </a:xfrm>
          <a:prstGeom prst="ellipse">
            <a:avLst/>
          </a:prstGeom>
          <a:solidFill>
            <a:srgbClr val="221D2E"/>
          </a:solidFill>
          <a:ln w="12700">
            <a:solidFill>
              <a:srgbClr val="221D2E"/>
            </a:solidFill>
            <a:prstDash val="solid"/>
          </a:ln>
        </p:spPr>
      </p:sp>
      <p:pic>
        <p:nvPicPr>
          <p:cNvPr id="7" name="Image 1" descr="preencoded.png">    </p:cNvPr>
          <p:cNvPicPr>
            <a:picLocks noChangeAspect="1"/>
          </p:cNvPicPr>
          <p:nvPr/>
        </p:nvPicPr>
        <p:blipFill>
          <a:blip r:embed="rId3"/>
          <a:stretch>
            <a:fillRect/>
          </a:stretch>
        </p:blipFill>
        <p:spPr>
          <a:xfrm>
            <a:off x="553212" y="2244852"/>
            <a:ext cx="192024" cy="192024"/>
          </a:xfrm>
          <a:prstGeom prst="rect">
            <a:avLst/>
          </a:prstGeom>
        </p:spPr>
      </p:pic>
      <p:sp>
        <p:nvSpPr>
          <p:cNvPr id="8" name="Text 4"/>
          <p:cNvSpPr txBox="1"/>
          <p:nvPr/>
        </p:nvSpPr>
        <p:spPr>
          <a:xfrm>
            <a:off x="960120" y="2130552"/>
            <a:ext cx="3566160" cy="457200"/>
          </a:xfrm>
          <a:prstGeom prst="rect">
            <a:avLst/>
          </a:prstGeom>
          <a:noFill/>
          <a:ln/>
        </p:spPr>
        <p:txBody>
          <a:bodyPr wrap="square" lIns="0" tIns="0" rIns="0" bIns="0" rtlCol="0" anchor="ctr"/>
          <a:lstStyle/>
          <a:p>
            <a:pPr indent="0" marL="0">
              <a:buNone/>
            </a:pPr>
            <a:r>
              <a:rPr lang="en-US" sz="1300" dirty="0">
                <a:solidFill>
                  <a:srgbClr val="F6E6CB"/>
                </a:solidFill>
                <a:latin typeface="Calibri" pitchFamily="34" charset="0"/>
                <a:ea typeface="Calibri" pitchFamily="34" charset="-122"/>
                <a:cs typeface="Calibri" pitchFamily="34" charset="-120"/>
              </a:rPr>
              <a:t>A mug teeters on the desk edge, then tips on its own</a:t>
            </a:r>
            <a:endParaRPr lang="en-US" sz="1300" dirty="0"/>
          </a:p>
        </p:txBody>
      </p:sp>
      <p:sp>
        <p:nvSpPr>
          <p:cNvPr id="9" name="Shape 5"/>
          <p:cNvSpPr/>
          <p:nvPr/>
        </p:nvSpPr>
        <p:spPr>
          <a:xfrm>
            <a:off x="457200" y="2715768"/>
            <a:ext cx="384048" cy="384048"/>
          </a:xfrm>
          <a:prstGeom prst="ellipse">
            <a:avLst/>
          </a:prstGeom>
          <a:solidFill>
            <a:srgbClr val="221D2E"/>
          </a:solidFill>
          <a:ln w="12700">
            <a:solidFill>
              <a:srgbClr val="221D2E"/>
            </a:solidFill>
            <a:prstDash val="solid"/>
          </a:ln>
        </p:spPr>
      </p:sp>
      <p:pic>
        <p:nvPicPr>
          <p:cNvPr id="10" name="Image 2" descr="preencoded.png">    </p:cNvPr>
          <p:cNvPicPr>
            <a:picLocks noChangeAspect="1"/>
          </p:cNvPicPr>
          <p:nvPr/>
        </p:nvPicPr>
        <p:blipFill>
          <a:blip r:embed="rId4"/>
          <a:stretch>
            <a:fillRect/>
          </a:stretch>
        </p:blipFill>
        <p:spPr>
          <a:xfrm>
            <a:off x="553212" y="2811780"/>
            <a:ext cx="192024" cy="192024"/>
          </a:xfrm>
          <a:prstGeom prst="rect">
            <a:avLst/>
          </a:prstGeom>
        </p:spPr>
      </p:pic>
      <p:sp>
        <p:nvSpPr>
          <p:cNvPr id="11" name="Text 6"/>
          <p:cNvSpPr txBox="1"/>
          <p:nvPr/>
        </p:nvSpPr>
        <p:spPr>
          <a:xfrm>
            <a:off x="960120" y="2697480"/>
            <a:ext cx="3566160" cy="457200"/>
          </a:xfrm>
          <a:prstGeom prst="rect">
            <a:avLst/>
          </a:prstGeom>
          <a:noFill/>
          <a:ln/>
        </p:spPr>
        <p:txBody>
          <a:bodyPr wrap="square" lIns="0" tIns="0" rIns="0" bIns="0" rtlCol="0" anchor="ctr"/>
          <a:lstStyle/>
          <a:p>
            <a:pPr indent="0" marL="0">
              <a:buNone/>
            </a:pPr>
            <a:r>
              <a:rPr lang="en-US" sz="1300" dirty="0">
                <a:solidFill>
                  <a:srgbClr val="F6E6CB"/>
                </a:solidFill>
                <a:latin typeface="Calibri" pitchFamily="34" charset="0"/>
                <a:ea typeface="Calibri" pitchFamily="34" charset="-122"/>
                <a:cs typeface="Calibri" pitchFamily="34" charset="-120"/>
              </a:rPr>
              <a:t>Pulling one book brings the stack down differently each run</a:t>
            </a:r>
            <a:endParaRPr lang="en-US" sz="1300" dirty="0"/>
          </a:p>
        </p:txBody>
      </p:sp>
      <p:sp>
        <p:nvSpPr>
          <p:cNvPr id="12" name="Shape 7"/>
          <p:cNvSpPr/>
          <p:nvPr/>
        </p:nvSpPr>
        <p:spPr>
          <a:xfrm>
            <a:off x="457200" y="3282696"/>
            <a:ext cx="384048" cy="384048"/>
          </a:xfrm>
          <a:prstGeom prst="ellipse">
            <a:avLst/>
          </a:prstGeom>
          <a:solidFill>
            <a:srgbClr val="221D2E"/>
          </a:solidFill>
          <a:ln w="12700">
            <a:solidFill>
              <a:srgbClr val="221D2E"/>
            </a:solidFill>
            <a:prstDash val="solid"/>
          </a:ln>
        </p:spPr>
      </p:sp>
      <p:pic>
        <p:nvPicPr>
          <p:cNvPr id="13" name="Image 3" descr="preencoded.png">    </p:cNvPr>
          <p:cNvPicPr>
            <a:picLocks noChangeAspect="1"/>
          </p:cNvPicPr>
          <p:nvPr/>
        </p:nvPicPr>
        <p:blipFill>
          <a:blip r:embed="rId5"/>
          <a:stretch>
            <a:fillRect/>
          </a:stretch>
        </p:blipFill>
        <p:spPr>
          <a:xfrm>
            <a:off x="553212" y="3378708"/>
            <a:ext cx="192024" cy="192024"/>
          </a:xfrm>
          <a:prstGeom prst="rect">
            <a:avLst/>
          </a:prstGeom>
        </p:spPr>
      </p:pic>
      <p:sp>
        <p:nvSpPr>
          <p:cNvPr id="14" name="Text 8"/>
          <p:cNvSpPr txBox="1"/>
          <p:nvPr/>
        </p:nvSpPr>
        <p:spPr>
          <a:xfrm>
            <a:off x="960120" y="3264408"/>
            <a:ext cx="3566160" cy="457200"/>
          </a:xfrm>
          <a:prstGeom prst="rect">
            <a:avLst/>
          </a:prstGeom>
          <a:noFill/>
          <a:ln/>
        </p:spPr>
        <p:txBody>
          <a:bodyPr wrap="square" lIns="0" tIns="0" rIns="0" bIns="0" rtlCol="0" anchor="ctr"/>
          <a:lstStyle/>
          <a:p>
            <a:pPr indent="0" marL="0">
              <a:buNone/>
            </a:pPr>
            <a:r>
              <a:rPr lang="en-US" sz="1300" dirty="0">
                <a:solidFill>
                  <a:srgbClr val="F6E6CB"/>
                </a:solidFill>
                <a:latin typeface="Calibri" pitchFamily="34" charset="0"/>
                <a:ea typeface="Calibri" pitchFamily="34" charset="-122"/>
                <a:cs typeface="Calibri" pitchFamily="34" charset="-120"/>
              </a:rPr>
              <a:t>The wake meter climbs; the owner stirs, sits up, stands</a:t>
            </a:r>
            <a:endParaRPr lang="en-US" sz="1300" dirty="0"/>
          </a:p>
        </p:txBody>
      </p:sp>
      <p:sp>
        <p:nvSpPr>
          <p:cNvPr id="15" name="Shape 9"/>
          <p:cNvSpPr/>
          <p:nvPr/>
        </p:nvSpPr>
        <p:spPr>
          <a:xfrm>
            <a:off x="457200" y="3849624"/>
            <a:ext cx="384048" cy="384048"/>
          </a:xfrm>
          <a:prstGeom prst="ellipse">
            <a:avLst/>
          </a:prstGeom>
          <a:solidFill>
            <a:srgbClr val="221D2E"/>
          </a:solidFill>
          <a:ln w="12700">
            <a:solidFill>
              <a:srgbClr val="221D2E"/>
            </a:solidFill>
            <a:prstDash val="solid"/>
          </a:ln>
        </p:spPr>
      </p:sp>
      <p:pic>
        <p:nvPicPr>
          <p:cNvPr id="16" name="Image 4" descr="preencoded.png">    </p:cNvPr>
          <p:cNvPicPr>
            <a:picLocks noChangeAspect="1"/>
          </p:cNvPicPr>
          <p:nvPr/>
        </p:nvPicPr>
        <p:blipFill>
          <a:blip r:embed="rId6"/>
          <a:stretch>
            <a:fillRect/>
          </a:stretch>
        </p:blipFill>
        <p:spPr>
          <a:xfrm>
            <a:off x="553212" y="3945636"/>
            <a:ext cx="192024" cy="192024"/>
          </a:xfrm>
          <a:prstGeom prst="rect">
            <a:avLst/>
          </a:prstGeom>
        </p:spPr>
      </p:pic>
      <p:sp>
        <p:nvSpPr>
          <p:cNvPr id="17" name="Text 10"/>
          <p:cNvSpPr txBox="1"/>
          <p:nvPr/>
        </p:nvSpPr>
        <p:spPr>
          <a:xfrm>
            <a:off x="960120" y="3831336"/>
            <a:ext cx="3566160" cy="457200"/>
          </a:xfrm>
          <a:prstGeom prst="rect">
            <a:avLst/>
          </a:prstGeom>
          <a:noFill/>
          <a:ln/>
        </p:spPr>
        <p:txBody>
          <a:bodyPr wrap="square" lIns="0" tIns="0" rIns="0" bIns="0" rtlCol="0" anchor="ctr"/>
          <a:lstStyle/>
          <a:p>
            <a:pPr indent="0" marL="0">
              <a:buNone/>
            </a:pPr>
            <a:r>
              <a:rPr lang="en-US" sz="1300" dirty="0">
                <a:solidFill>
                  <a:srgbClr val="F6E6CB"/>
                </a:solidFill>
                <a:latin typeface="Calibri" pitchFamily="34" charset="0"/>
                <a:ea typeface="Calibri" pitchFamily="34" charset="-122"/>
                <a:cs typeface="Calibri" pitchFamily="34" charset="-120"/>
              </a:rPr>
              <a:t>Hide under the desk to break his line of sight</a:t>
            </a:r>
            <a:endParaRPr lang="en-US" sz="1300" dirty="0"/>
          </a:p>
        </p:txBody>
      </p:sp>
      <p:sp>
        <p:nvSpPr>
          <p:cNvPr id="18" name="Text 11"/>
          <p:cNvSpPr txBox="1"/>
          <p:nvPr/>
        </p:nvSpPr>
        <p:spPr>
          <a:xfrm>
            <a:off x="4754880" y="3383280"/>
            <a:ext cx="3931920" cy="548640"/>
          </a:xfrm>
          <a:prstGeom prst="rect">
            <a:avLst/>
          </a:prstGeom>
          <a:noFill/>
          <a:ln/>
        </p:spPr>
        <p:txBody>
          <a:bodyPr wrap="square" lIns="0" tIns="0" rIns="0" bIns="0" rtlCol="0" anchor="ctr"/>
          <a:lstStyle/>
          <a:p>
            <a:pPr indent="0" marL="0">
              <a:buNone/>
            </a:pPr>
            <a:r>
              <a:rPr lang="en-US" sz="1100" i="1" dirty="0">
                <a:solidFill>
                  <a:srgbClr val="B9AFA3"/>
                </a:solidFill>
                <a:latin typeface="Calibri" pitchFamily="34" charset="0"/>
                <a:ea typeface="Calibri" pitchFamily="34" charset="-122"/>
                <a:cs typeface="Calibri" pitchFamily="34" charset="-120"/>
              </a:rPr>
              <a:t>2D mockup (Matter.js) made only to communicate the idea. The game we are building is 3D (next slide).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3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F6E6CB"/>
                </a:solidFill>
                <a:latin typeface="Cambria" pitchFamily="34" charset="0"/>
                <a:ea typeface="Cambria" pitchFamily="34" charset="-122"/>
                <a:cs typeface="Cambria" pitchFamily="34" charset="-120"/>
              </a:rPr>
              <a:t>Three pillars</a:t>
            </a:r>
            <a:endParaRPr lang="en-US" sz="3200" dirty="0"/>
          </a:p>
        </p:txBody>
      </p:sp>
      <p:sp>
        <p:nvSpPr>
          <p:cNvPr id="3" name="Shape 1"/>
          <p:cNvSpPr/>
          <p:nvPr/>
        </p:nvSpPr>
        <p:spPr>
          <a:xfrm>
            <a:off x="457200" y="1188720"/>
            <a:ext cx="2651760" cy="3383280"/>
          </a:xfrm>
          <a:prstGeom prst="roundRect">
            <a:avLst>
              <a:gd name="adj" fmla="val 4138"/>
            </a:avLst>
          </a:prstGeom>
          <a:solidFill>
            <a:srgbClr val="221D2E"/>
          </a:solidFill>
          <a:ln w="12700">
            <a:solidFill>
              <a:srgbClr val="221D2E"/>
            </a:solidFill>
            <a:prstDash val="solid"/>
          </a:ln>
        </p:spPr>
      </p:sp>
      <p:sp>
        <p:nvSpPr>
          <p:cNvPr id="4" name="Shape 2"/>
          <p:cNvSpPr/>
          <p:nvPr/>
        </p:nvSpPr>
        <p:spPr>
          <a:xfrm>
            <a:off x="731520" y="1463040"/>
            <a:ext cx="548640" cy="548640"/>
          </a:xfrm>
          <a:prstGeom prst="ellipse">
            <a:avLst/>
          </a:prstGeom>
          <a:solidFill>
            <a:srgbClr val="161320"/>
          </a:solidFill>
          <a:ln w="12700">
            <a:solidFill>
              <a:srgbClr val="161320"/>
            </a:solidFill>
            <a:prstDash val="solid"/>
          </a:ln>
        </p:spPr>
      </p:sp>
      <p:pic>
        <p:nvPicPr>
          <p:cNvPr id="5" name="Image 0" descr="preencoded.png">    </p:cNvPr>
          <p:cNvPicPr>
            <a:picLocks noChangeAspect="1"/>
          </p:cNvPicPr>
          <p:nvPr/>
        </p:nvPicPr>
        <p:blipFill>
          <a:blip r:embed="rId1"/>
          <a:stretch>
            <a:fillRect/>
          </a:stretch>
        </p:blipFill>
        <p:spPr>
          <a:xfrm>
            <a:off x="868680" y="1600200"/>
            <a:ext cx="274320" cy="274320"/>
          </a:xfrm>
          <a:prstGeom prst="rect">
            <a:avLst/>
          </a:prstGeom>
        </p:spPr>
      </p:pic>
      <p:sp>
        <p:nvSpPr>
          <p:cNvPr id="6" name="Text 3"/>
          <p:cNvSpPr txBox="1"/>
          <p:nvPr/>
        </p:nvSpPr>
        <p:spPr>
          <a:xfrm>
            <a:off x="731520" y="2148840"/>
            <a:ext cx="2103120" cy="457200"/>
          </a:xfrm>
          <a:prstGeom prst="rect">
            <a:avLst/>
          </a:prstGeom>
          <a:noFill/>
          <a:ln/>
        </p:spPr>
        <p:txBody>
          <a:bodyPr wrap="square" lIns="0" tIns="0" rIns="0" bIns="0" rtlCol="0" anchor="ctr"/>
          <a:lstStyle/>
          <a:p>
            <a:pPr indent="0" marL="0">
              <a:buNone/>
            </a:pPr>
            <a:r>
              <a:rPr lang="en-US" sz="1700" b="1" dirty="0">
                <a:solidFill>
                  <a:srgbClr val="F6E6CB"/>
                </a:solidFill>
                <a:latin typeface="Cambria" pitchFamily="34" charset="0"/>
                <a:ea typeface="Cambria" pitchFamily="34" charset="-122"/>
                <a:cs typeface="Cambria" pitchFamily="34" charset="-120"/>
              </a:rPr>
              <a:t>Physics &amp; Dynamics</a:t>
            </a:r>
            <a:endParaRPr lang="en-US" sz="1700" dirty="0"/>
          </a:p>
        </p:txBody>
      </p:sp>
      <p:sp>
        <p:nvSpPr>
          <p:cNvPr id="7" name="Text 4"/>
          <p:cNvSpPr txBox="1"/>
          <p:nvPr/>
        </p:nvSpPr>
        <p:spPr>
          <a:xfrm>
            <a:off x="731520" y="2651760"/>
            <a:ext cx="2103120" cy="1737360"/>
          </a:xfrm>
          <a:prstGeom prst="rect">
            <a:avLst/>
          </a:prstGeom>
          <a:noFill/>
          <a:ln/>
        </p:spPr>
        <p:txBody>
          <a:bodyPr wrap="square" lIns="0" tIns="0" rIns="0" bIns="0" rtlCol="0" anchor="t"/>
          <a:lstStyle/>
          <a:p>
            <a:pPr indent="0" marL="0">
              <a:buNone/>
            </a:pPr>
            <a:r>
              <a:rPr lang="en-US" sz="1250" dirty="0">
                <a:solidFill>
                  <a:srgbClr val="B9AFA3"/>
                </a:solidFill>
                <a:latin typeface="Calibri" pitchFamily="34" charset="0"/>
                <a:ea typeface="Calibri" pitchFamily="34" charset="-122"/>
                <a:cs typeface="Calibri" pitchFamily="34" charset="-120"/>
              </a:rPr>
              <a:t>Every object is a 3D rigid body: mass, friction, restitution, angular momentum. Stacking, resting contacts, teetering before a tip. Impulses feed the noise model.</a:t>
            </a:r>
            <a:endParaRPr lang="en-US" sz="1250" dirty="0"/>
          </a:p>
        </p:txBody>
      </p:sp>
      <p:sp>
        <p:nvSpPr>
          <p:cNvPr id="8" name="Shape 5"/>
          <p:cNvSpPr/>
          <p:nvPr/>
        </p:nvSpPr>
        <p:spPr>
          <a:xfrm>
            <a:off x="3337560" y="1188720"/>
            <a:ext cx="2651760" cy="3383280"/>
          </a:xfrm>
          <a:prstGeom prst="roundRect">
            <a:avLst>
              <a:gd name="adj" fmla="val 4138"/>
            </a:avLst>
          </a:prstGeom>
          <a:solidFill>
            <a:srgbClr val="221D2E"/>
          </a:solidFill>
          <a:ln w="12700">
            <a:solidFill>
              <a:srgbClr val="221D2E"/>
            </a:solidFill>
            <a:prstDash val="solid"/>
          </a:ln>
        </p:spPr>
      </p:sp>
      <p:sp>
        <p:nvSpPr>
          <p:cNvPr id="9" name="Shape 6"/>
          <p:cNvSpPr/>
          <p:nvPr/>
        </p:nvSpPr>
        <p:spPr>
          <a:xfrm>
            <a:off x="3611880" y="1463040"/>
            <a:ext cx="548640" cy="548640"/>
          </a:xfrm>
          <a:prstGeom prst="ellipse">
            <a:avLst/>
          </a:prstGeom>
          <a:solidFill>
            <a:srgbClr val="161320"/>
          </a:solidFill>
          <a:ln w="12700">
            <a:solidFill>
              <a:srgbClr val="161320"/>
            </a:solidFill>
            <a:prstDash val="solid"/>
          </a:ln>
        </p:spPr>
      </p:sp>
      <p:pic>
        <p:nvPicPr>
          <p:cNvPr id="10" name="Image 1" descr="preencoded.png">    </p:cNvPr>
          <p:cNvPicPr>
            <a:picLocks noChangeAspect="1"/>
          </p:cNvPicPr>
          <p:nvPr/>
        </p:nvPicPr>
        <p:blipFill>
          <a:blip r:embed="rId2"/>
          <a:stretch>
            <a:fillRect/>
          </a:stretch>
        </p:blipFill>
        <p:spPr>
          <a:xfrm>
            <a:off x="3749040" y="1600200"/>
            <a:ext cx="274320" cy="274320"/>
          </a:xfrm>
          <a:prstGeom prst="rect">
            <a:avLst/>
          </a:prstGeom>
        </p:spPr>
      </p:pic>
      <p:sp>
        <p:nvSpPr>
          <p:cNvPr id="11" name="Text 7"/>
          <p:cNvSpPr txBox="1"/>
          <p:nvPr/>
        </p:nvSpPr>
        <p:spPr>
          <a:xfrm>
            <a:off x="3611880" y="2148840"/>
            <a:ext cx="2103120" cy="457200"/>
          </a:xfrm>
          <a:prstGeom prst="rect">
            <a:avLst/>
          </a:prstGeom>
          <a:noFill/>
          <a:ln/>
        </p:spPr>
        <p:txBody>
          <a:bodyPr wrap="square" lIns="0" tIns="0" rIns="0" bIns="0" rtlCol="0" anchor="ctr"/>
          <a:lstStyle/>
          <a:p>
            <a:pPr indent="0" marL="0">
              <a:buNone/>
            </a:pPr>
            <a:r>
              <a:rPr lang="en-US" sz="1700" b="1" dirty="0">
                <a:solidFill>
                  <a:srgbClr val="F6E6CB"/>
                </a:solidFill>
                <a:latin typeface="Cambria" pitchFamily="34" charset="0"/>
                <a:ea typeface="Cambria" pitchFamily="34" charset="-122"/>
                <a:cs typeface="Cambria" pitchFamily="34" charset="-120"/>
              </a:rPr>
              <a:t>Collision Detection</a:t>
            </a:r>
            <a:endParaRPr lang="en-US" sz="1700" dirty="0"/>
          </a:p>
        </p:txBody>
      </p:sp>
      <p:sp>
        <p:nvSpPr>
          <p:cNvPr id="12" name="Text 8"/>
          <p:cNvSpPr txBox="1"/>
          <p:nvPr/>
        </p:nvSpPr>
        <p:spPr>
          <a:xfrm>
            <a:off x="3611880" y="2651760"/>
            <a:ext cx="2103120" cy="1737360"/>
          </a:xfrm>
          <a:prstGeom prst="rect">
            <a:avLst/>
          </a:prstGeom>
          <a:noFill/>
          <a:ln/>
        </p:spPr>
        <p:txBody>
          <a:bodyPr wrap="square" lIns="0" tIns="0" rIns="0" bIns="0" rtlCol="0" anchor="t"/>
          <a:lstStyle/>
          <a:p>
            <a:pPr indent="0" marL="0">
              <a:buNone/>
            </a:pPr>
            <a:r>
              <a:rPr lang="en-US" sz="1250" dirty="0">
                <a:solidFill>
                  <a:srgbClr val="B9AFA3"/>
                </a:solidFill>
                <a:latin typeface="Calibri" pitchFamily="34" charset="0"/>
                <a:ea typeface="Calibri" pitchFamily="34" charset="-122"/>
                <a:cs typeface="Calibri" pitchFamily="34" charset="-120"/>
              </a:rPr>
              <a:t>Our 3D spatial-grid broad phase, a tunneling guard for fast swatted objects, and ray-vs-box queries for line of sight and ledge checks. Narrow phase comes from cannon-es.</a:t>
            </a:r>
            <a:endParaRPr lang="en-US" sz="1250" dirty="0"/>
          </a:p>
        </p:txBody>
      </p:sp>
      <p:sp>
        <p:nvSpPr>
          <p:cNvPr id="13" name="Shape 9"/>
          <p:cNvSpPr/>
          <p:nvPr/>
        </p:nvSpPr>
        <p:spPr>
          <a:xfrm>
            <a:off x="6217920" y="1188720"/>
            <a:ext cx="2651760" cy="3383280"/>
          </a:xfrm>
          <a:prstGeom prst="roundRect">
            <a:avLst>
              <a:gd name="adj" fmla="val 4138"/>
            </a:avLst>
          </a:prstGeom>
          <a:solidFill>
            <a:srgbClr val="221D2E"/>
          </a:solidFill>
          <a:ln w="12700">
            <a:solidFill>
              <a:srgbClr val="221D2E"/>
            </a:solidFill>
            <a:prstDash val="solid"/>
          </a:ln>
        </p:spPr>
      </p:sp>
      <p:sp>
        <p:nvSpPr>
          <p:cNvPr id="14" name="Shape 10"/>
          <p:cNvSpPr/>
          <p:nvPr/>
        </p:nvSpPr>
        <p:spPr>
          <a:xfrm>
            <a:off x="6492240" y="1463040"/>
            <a:ext cx="548640" cy="548640"/>
          </a:xfrm>
          <a:prstGeom prst="ellipse">
            <a:avLst/>
          </a:prstGeom>
          <a:solidFill>
            <a:srgbClr val="161320"/>
          </a:solidFill>
          <a:ln w="12700">
            <a:solidFill>
              <a:srgbClr val="161320"/>
            </a:solidFill>
            <a:prstDash val="solid"/>
          </a:ln>
        </p:spPr>
      </p:sp>
      <p:pic>
        <p:nvPicPr>
          <p:cNvPr id="15" name="Image 2" descr="preencoded.png">    </p:cNvPr>
          <p:cNvPicPr>
            <a:picLocks noChangeAspect="1"/>
          </p:cNvPicPr>
          <p:nvPr/>
        </p:nvPicPr>
        <p:blipFill>
          <a:blip r:embed="rId3"/>
          <a:stretch>
            <a:fillRect/>
          </a:stretch>
        </p:blipFill>
        <p:spPr>
          <a:xfrm>
            <a:off x="6629400" y="1600200"/>
            <a:ext cx="274320" cy="274320"/>
          </a:xfrm>
          <a:prstGeom prst="rect">
            <a:avLst/>
          </a:prstGeom>
        </p:spPr>
      </p:pic>
      <p:sp>
        <p:nvSpPr>
          <p:cNvPr id="16" name="Text 11"/>
          <p:cNvSpPr txBox="1"/>
          <p:nvPr/>
        </p:nvSpPr>
        <p:spPr>
          <a:xfrm>
            <a:off x="6492240" y="2148840"/>
            <a:ext cx="2103120" cy="457200"/>
          </a:xfrm>
          <a:prstGeom prst="rect">
            <a:avLst/>
          </a:prstGeom>
          <a:noFill/>
          <a:ln/>
        </p:spPr>
        <p:txBody>
          <a:bodyPr wrap="square" lIns="0" tIns="0" rIns="0" bIns="0" rtlCol="0" anchor="ctr"/>
          <a:lstStyle/>
          <a:p>
            <a:pPr indent="0" marL="0">
              <a:buNone/>
            </a:pPr>
            <a:r>
              <a:rPr lang="en-US" sz="1700" b="1" dirty="0">
                <a:solidFill>
                  <a:srgbClr val="F6E6CB"/>
                </a:solidFill>
                <a:latin typeface="Cambria" pitchFamily="34" charset="0"/>
                <a:ea typeface="Cambria" pitchFamily="34" charset="-122"/>
                <a:cs typeface="Cambria" pitchFamily="34" charset="-120"/>
              </a:rPr>
              <a:t>NPC AI / Behavior Trees</a:t>
            </a:r>
            <a:endParaRPr lang="en-US" sz="1700" dirty="0"/>
          </a:p>
        </p:txBody>
      </p:sp>
      <p:sp>
        <p:nvSpPr>
          <p:cNvPr id="17" name="Text 12"/>
          <p:cNvSpPr txBox="1"/>
          <p:nvPr/>
        </p:nvSpPr>
        <p:spPr>
          <a:xfrm>
            <a:off x="6492240" y="2651760"/>
            <a:ext cx="2103120" cy="1737360"/>
          </a:xfrm>
          <a:prstGeom prst="rect">
            <a:avLst/>
          </a:prstGeom>
          <a:noFill/>
          <a:ln/>
        </p:spPr>
        <p:txBody>
          <a:bodyPr wrap="square" lIns="0" tIns="0" rIns="0" bIns="0" rtlCol="0" anchor="t"/>
          <a:lstStyle/>
          <a:p>
            <a:pPr indent="0" marL="0">
              <a:buNone/>
            </a:pPr>
            <a:r>
              <a:rPr lang="en-US" sz="1250" dirty="0">
                <a:solidFill>
                  <a:srgbClr val="B9AFA3"/>
                </a:solidFill>
                <a:latin typeface="Calibri" pitchFamily="34" charset="0"/>
                <a:ea typeface="Calibri" pitchFamily="34" charset="-122"/>
                <a:cs typeface="Calibri" pitchFamily="34" charset="-120"/>
              </a:rPr>
              <a:t>Asleep: a wake-state machine fed by noise. Awake: a behavior tree that investigates the last noise, searches, checks hiding spots, and returns to bed. Sight is a 3D vision cone with raycasts.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3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F6E6CB"/>
                </a:solidFill>
                <a:latin typeface="Cambria" pitchFamily="34" charset="0"/>
                <a:ea typeface="Cambria" pitchFamily="34" charset="-122"/>
                <a:cs typeface="Cambria" pitchFamily="34" charset="-120"/>
              </a:rPr>
              <a:t>Framework and stack</a:t>
            </a:r>
            <a:endParaRPr lang="en-US" sz="3200" dirty="0"/>
          </a:p>
        </p:txBody>
      </p:sp>
      <p:sp>
        <p:nvSpPr>
          <p:cNvPr id="3" name="Text 1"/>
          <p:cNvSpPr txBox="1"/>
          <p:nvPr/>
        </p:nvSpPr>
        <p:spPr>
          <a:xfrm>
            <a:off x="457200" y="1005840"/>
            <a:ext cx="8229600" cy="365760"/>
          </a:xfrm>
          <a:prstGeom prst="rect">
            <a:avLst/>
          </a:prstGeom>
          <a:noFill/>
          <a:ln/>
        </p:spPr>
        <p:txBody>
          <a:bodyPr wrap="square" lIns="0" tIns="0" rIns="0" bIns="0" rtlCol="0" anchor="ctr"/>
          <a:lstStyle/>
          <a:p>
            <a:pPr indent="0" marL="0">
              <a:buNone/>
            </a:pPr>
            <a:r>
              <a:rPr lang="en-US" sz="1500" dirty="0">
                <a:solidFill>
                  <a:srgbClr val="E8A33C"/>
                </a:solidFill>
                <a:latin typeface="Calibri" pitchFamily="34" charset="0"/>
                <a:ea typeface="Calibri" pitchFamily="34" charset="-122"/>
                <a:cs typeface="Calibri" pitchFamily="34" charset="-120"/>
              </a:rPr>
              <a:t>Three.js (WebGL) · JavaScript · cannon-es physics · Vite · Netlify · Blender for assets</a:t>
            </a:r>
            <a:endParaRPr lang="en-US" sz="1500" dirty="0"/>
          </a:p>
        </p:txBody>
      </p:sp>
      <p:sp>
        <p:nvSpPr>
          <p:cNvPr id="4" name="Shape 2"/>
          <p:cNvSpPr/>
          <p:nvPr/>
        </p:nvSpPr>
        <p:spPr>
          <a:xfrm>
            <a:off x="457200" y="1554480"/>
            <a:ext cx="3977640" cy="3108960"/>
          </a:xfrm>
          <a:prstGeom prst="roundRect">
            <a:avLst>
              <a:gd name="adj" fmla="val 3529"/>
            </a:avLst>
          </a:prstGeom>
          <a:solidFill>
            <a:srgbClr val="221D2E"/>
          </a:solidFill>
          <a:ln w="12700">
            <a:solidFill>
              <a:srgbClr val="221D2E"/>
            </a:solidFill>
            <a:prstDash val="solid"/>
          </a:ln>
        </p:spPr>
      </p:sp>
      <p:sp>
        <p:nvSpPr>
          <p:cNvPr id="5" name="Text 3"/>
          <p:cNvSpPr txBox="1"/>
          <p:nvPr/>
        </p:nvSpPr>
        <p:spPr>
          <a:xfrm>
            <a:off x="731520" y="1737360"/>
            <a:ext cx="3474720" cy="365760"/>
          </a:xfrm>
          <a:prstGeom prst="rect">
            <a:avLst/>
          </a:prstGeom>
          <a:noFill/>
          <a:ln/>
        </p:spPr>
        <p:txBody>
          <a:bodyPr wrap="square" lIns="0" tIns="0" rIns="0" bIns="0" rtlCol="0" anchor="ctr"/>
          <a:lstStyle/>
          <a:p>
            <a:pPr indent="0" marL="0">
              <a:buNone/>
            </a:pPr>
            <a:r>
              <a:rPr lang="en-US" sz="1700" b="1" dirty="0">
                <a:solidFill>
                  <a:srgbClr val="8FB3E6"/>
                </a:solidFill>
                <a:latin typeface="Cambria" pitchFamily="34" charset="0"/>
                <a:ea typeface="Cambria" pitchFamily="34" charset="-122"/>
                <a:cs typeface="Cambria" pitchFamily="34" charset="-120"/>
              </a:rPr>
              <a:t>The library does</a:t>
            </a:r>
            <a:endParaRPr lang="en-US" sz="1700" dirty="0"/>
          </a:p>
        </p:txBody>
      </p:sp>
      <p:sp>
        <p:nvSpPr>
          <p:cNvPr id="6" name="Text 4"/>
          <p:cNvSpPr txBox="1"/>
          <p:nvPr/>
        </p:nvSpPr>
        <p:spPr>
          <a:xfrm>
            <a:off x="731520" y="2194560"/>
            <a:ext cx="347472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Numerical integration of motion</a:t>
            </a:r>
            <a:endParaRPr lang="en-US" sz="1300" dirty="0"/>
          </a:p>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Impulse-based contact resolution</a:t>
            </a:r>
            <a:endParaRPr lang="en-US" sz="1300" dirty="0"/>
          </a:p>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Resting contacts and sleeping bodies</a:t>
            </a:r>
            <a:endParaRPr lang="en-US" sz="1300" dirty="0"/>
          </a:p>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Convex shape narrow phase</a:t>
            </a:r>
            <a:endParaRPr lang="en-US" sz="1300" dirty="0"/>
          </a:p>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3D model loading and clip playback (Three.js)</a:t>
            </a:r>
            <a:endParaRPr lang="en-US" sz="1300" dirty="0"/>
          </a:p>
        </p:txBody>
      </p:sp>
      <p:sp>
        <p:nvSpPr>
          <p:cNvPr id="7" name="Shape 5"/>
          <p:cNvSpPr/>
          <p:nvPr/>
        </p:nvSpPr>
        <p:spPr>
          <a:xfrm>
            <a:off x="4709160" y="1554480"/>
            <a:ext cx="3977640" cy="3108960"/>
          </a:xfrm>
          <a:prstGeom prst="roundRect">
            <a:avLst>
              <a:gd name="adj" fmla="val 3529"/>
            </a:avLst>
          </a:prstGeom>
          <a:solidFill>
            <a:srgbClr val="221D2E"/>
          </a:solidFill>
          <a:ln w="12700">
            <a:solidFill>
              <a:srgbClr val="221D2E"/>
            </a:solidFill>
            <a:prstDash val="solid"/>
          </a:ln>
        </p:spPr>
      </p:sp>
      <p:sp>
        <p:nvSpPr>
          <p:cNvPr id="8" name="Text 6"/>
          <p:cNvSpPr txBox="1"/>
          <p:nvPr/>
        </p:nvSpPr>
        <p:spPr>
          <a:xfrm>
            <a:off x="4983480" y="1737360"/>
            <a:ext cx="3474720" cy="365760"/>
          </a:xfrm>
          <a:prstGeom prst="rect">
            <a:avLst/>
          </a:prstGeom>
          <a:noFill/>
          <a:ln/>
        </p:spPr>
        <p:txBody>
          <a:bodyPr wrap="square" lIns="0" tIns="0" rIns="0" bIns="0" rtlCol="0" anchor="ctr"/>
          <a:lstStyle/>
          <a:p>
            <a:pPr indent="0" marL="0">
              <a:buNone/>
            </a:pPr>
            <a:r>
              <a:rPr lang="en-US" sz="1700" b="1" dirty="0">
                <a:solidFill>
                  <a:srgbClr val="E8A33C"/>
                </a:solidFill>
                <a:latin typeface="Cambria" pitchFamily="34" charset="0"/>
                <a:ea typeface="Cambria" pitchFamily="34" charset="-122"/>
                <a:cs typeface="Cambria" pitchFamily="34" charset="-120"/>
              </a:rPr>
              <a:t>We write</a:t>
            </a:r>
            <a:endParaRPr lang="en-US" sz="1700" dirty="0"/>
          </a:p>
        </p:txBody>
      </p:sp>
      <p:sp>
        <p:nvSpPr>
          <p:cNvPr id="9" name="Text 7"/>
          <p:cNvSpPr txBox="1"/>
          <p:nvPr/>
        </p:nvSpPr>
        <p:spPr>
          <a:xfrm>
            <a:off x="4983480" y="2194560"/>
            <a:ext cx="347472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Uniform spatial-grid broad phase (plugged into cannon-es)</a:t>
            </a:r>
            <a:endParaRPr lang="en-US" sz="1300" dirty="0"/>
          </a:p>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Ray-vs-box queries for vision cone and ledge checks</a:t>
            </a:r>
            <a:endParaRPr lang="en-US" sz="1300" dirty="0"/>
          </a:p>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Tunneling guard: substepping + swept-sphere</a:t>
            </a:r>
            <a:endParaRPr lang="en-US" sz="1300" dirty="0"/>
          </a:p>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Noise model: impulse → loudness → attenuation → wake meter</a:t>
            </a:r>
            <a:endParaRPr lang="en-US" sz="1300" dirty="0"/>
          </a:p>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Wake-state machine and behavior tree</a:t>
            </a:r>
            <a:endParaRPr lang="en-US" sz="1300" dirty="0"/>
          </a:p>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3D scene: isometric camera, baked night lighting, cat controller, HUD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3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F6E6CB"/>
                </a:solidFill>
                <a:latin typeface="Cambria" pitchFamily="34" charset="0"/>
                <a:ea typeface="Cambria" pitchFamily="34" charset="-122"/>
                <a:cs typeface="Cambria" pitchFamily="34" charset="-120"/>
              </a:rPr>
              <a:t>The hard problems</a:t>
            </a:r>
            <a:endParaRPr lang="en-US" sz="3200" dirty="0"/>
          </a:p>
        </p:txBody>
      </p:sp>
      <p:sp>
        <p:nvSpPr>
          <p:cNvPr id="3" name="Text 1"/>
          <p:cNvSpPr txBox="1"/>
          <p:nvPr/>
        </p:nvSpPr>
        <p:spPr>
          <a:xfrm>
            <a:off x="457200" y="914400"/>
            <a:ext cx="8229600" cy="320040"/>
          </a:xfrm>
          <a:prstGeom prst="rect">
            <a:avLst/>
          </a:prstGeom>
          <a:noFill/>
          <a:ln/>
        </p:spPr>
        <p:txBody>
          <a:bodyPr wrap="square" lIns="0" tIns="0" rIns="0" bIns="0" rtlCol="0" anchor="ctr"/>
          <a:lstStyle/>
          <a:p>
            <a:pPr indent="0" marL="0">
              <a:buNone/>
            </a:pPr>
            <a:r>
              <a:rPr lang="en-US" sz="1300" i="1" dirty="0">
                <a:solidFill>
                  <a:srgbClr val="B9AFA3"/>
                </a:solidFill>
                <a:latin typeface="Calibri" pitchFamily="34" charset="0"/>
                <a:ea typeface="Calibri" pitchFamily="34" charset="-122"/>
                <a:cs typeface="Calibri" pitchFamily="34" charset="-120"/>
              </a:rPr>
              <a:t>Where coding agents alone will not get us there</a:t>
            </a:r>
            <a:endParaRPr lang="en-US" sz="1300" dirty="0"/>
          </a:p>
        </p:txBody>
      </p:sp>
      <p:sp>
        <p:nvSpPr>
          <p:cNvPr id="4" name="Shape 2"/>
          <p:cNvSpPr/>
          <p:nvPr/>
        </p:nvSpPr>
        <p:spPr>
          <a:xfrm>
            <a:off x="457200" y="1371600"/>
            <a:ext cx="3977640" cy="1508760"/>
          </a:xfrm>
          <a:prstGeom prst="roundRect">
            <a:avLst>
              <a:gd name="adj" fmla="val 7273"/>
            </a:avLst>
          </a:prstGeom>
          <a:solidFill>
            <a:srgbClr val="221D2E"/>
          </a:solidFill>
          <a:ln w="12700">
            <a:solidFill>
              <a:srgbClr val="221D2E"/>
            </a:solidFill>
            <a:prstDash val="solid"/>
          </a:ln>
        </p:spPr>
      </p:sp>
      <p:sp>
        <p:nvSpPr>
          <p:cNvPr id="5" name="Shape 3"/>
          <p:cNvSpPr/>
          <p:nvPr/>
        </p:nvSpPr>
        <p:spPr>
          <a:xfrm>
            <a:off x="685800" y="1600200"/>
            <a:ext cx="457200" cy="457200"/>
          </a:xfrm>
          <a:prstGeom prst="ellipse">
            <a:avLst/>
          </a:prstGeom>
          <a:solidFill>
            <a:srgbClr val="161320"/>
          </a:solidFill>
          <a:ln w="12700">
            <a:solidFill>
              <a:srgbClr val="161320"/>
            </a:solidFill>
            <a:prstDash val="solid"/>
          </a:ln>
        </p:spPr>
      </p:sp>
      <p:pic>
        <p:nvPicPr>
          <p:cNvPr id="6" name="Image 0" descr="preencoded.png">    </p:cNvPr>
          <p:cNvPicPr>
            <a:picLocks noChangeAspect="1"/>
          </p:cNvPicPr>
          <p:nvPr/>
        </p:nvPicPr>
        <p:blipFill>
          <a:blip r:embed="rId1"/>
          <a:stretch>
            <a:fillRect/>
          </a:stretch>
        </p:blipFill>
        <p:spPr>
          <a:xfrm>
            <a:off x="800100" y="1714500"/>
            <a:ext cx="228600" cy="228600"/>
          </a:xfrm>
          <a:prstGeom prst="rect">
            <a:avLst/>
          </a:prstGeom>
        </p:spPr>
      </p:pic>
      <p:sp>
        <p:nvSpPr>
          <p:cNvPr id="7" name="Text 4"/>
          <p:cNvSpPr txBox="1"/>
          <p:nvPr/>
        </p:nvSpPr>
        <p:spPr>
          <a:xfrm>
            <a:off x="1280160" y="1572768"/>
            <a:ext cx="3017520" cy="365760"/>
          </a:xfrm>
          <a:prstGeom prst="rect">
            <a:avLst/>
          </a:prstGeom>
          <a:noFill/>
          <a:ln/>
        </p:spPr>
        <p:txBody>
          <a:bodyPr wrap="square" lIns="0" tIns="0" rIns="0" bIns="0" rtlCol="0" anchor="ctr"/>
          <a:lstStyle/>
          <a:p>
            <a:pPr indent="0" marL="0">
              <a:buNone/>
            </a:pPr>
            <a:r>
              <a:rPr lang="en-US" sz="1500" b="1" dirty="0">
                <a:solidFill>
                  <a:srgbClr val="F6E6CB"/>
                </a:solidFill>
                <a:latin typeface="Cambria" pitchFamily="34" charset="0"/>
                <a:ea typeface="Cambria" pitchFamily="34" charset="-122"/>
                <a:cs typeface="Cambria" pitchFamily="34" charset="-120"/>
              </a:rPr>
              <a:t>Stacking stability</a:t>
            </a:r>
            <a:endParaRPr lang="en-US" sz="1500" dirty="0"/>
          </a:p>
        </p:txBody>
      </p:sp>
      <p:sp>
        <p:nvSpPr>
          <p:cNvPr id="8" name="Text 5"/>
          <p:cNvSpPr txBox="1"/>
          <p:nvPr/>
        </p:nvSpPr>
        <p:spPr>
          <a:xfrm>
            <a:off x="1280160" y="1938528"/>
            <a:ext cx="2971800" cy="868680"/>
          </a:xfrm>
          <a:prstGeom prst="rect">
            <a:avLst/>
          </a:prstGeom>
          <a:noFill/>
          <a:ln/>
        </p:spPr>
        <p:txBody>
          <a:bodyPr wrap="square" lIns="0" tIns="0" rIns="0" bIns="0" rtlCol="0" anchor="t"/>
          <a:lstStyle/>
          <a:p>
            <a:pPr indent="0" marL="0">
              <a:buNone/>
            </a:pPr>
            <a:r>
              <a:rPr lang="en-US" sz="1150" dirty="0">
                <a:solidFill>
                  <a:srgbClr val="B9AFA3"/>
                </a:solidFill>
                <a:latin typeface="Calibri" pitchFamily="34" charset="0"/>
                <a:ea typeface="Calibri" pitchFamily="34" charset="-122"/>
                <a:cs typeface="Calibri" pitchFamily="34" charset="-120"/>
              </a:rPr>
              <a:t>Thin 3D plates jitter or explode at rest. Our tunneling guard injects contacts that make it worse, so the two fixes fight. Solved by measurement.</a:t>
            </a:r>
            <a:endParaRPr lang="en-US" sz="1150" dirty="0"/>
          </a:p>
        </p:txBody>
      </p:sp>
      <p:sp>
        <p:nvSpPr>
          <p:cNvPr id="9" name="Shape 6"/>
          <p:cNvSpPr/>
          <p:nvPr/>
        </p:nvSpPr>
        <p:spPr>
          <a:xfrm>
            <a:off x="4709160" y="1371600"/>
            <a:ext cx="3977640" cy="1508760"/>
          </a:xfrm>
          <a:prstGeom prst="roundRect">
            <a:avLst>
              <a:gd name="adj" fmla="val 7273"/>
            </a:avLst>
          </a:prstGeom>
          <a:solidFill>
            <a:srgbClr val="221D2E"/>
          </a:solidFill>
          <a:ln w="12700">
            <a:solidFill>
              <a:srgbClr val="221D2E"/>
            </a:solidFill>
            <a:prstDash val="solid"/>
          </a:ln>
        </p:spPr>
      </p:sp>
      <p:sp>
        <p:nvSpPr>
          <p:cNvPr id="10" name="Shape 7"/>
          <p:cNvSpPr/>
          <p:nvPr/>
        </p:nvSpPr>
        <p:spPr>
          <a:xfrm>
            <a:off x="4937760" y="1600200"/>
            <a:ext cx="457200" cy="457200"/>
          </a:xfrm>
          <a:prstGeom prst="ellipse">
            <a:avLst/>
          </a:prstGeom>
          <a:solidFill>
            <a:srgbClr val="161320"/>
          </a:solidFill>
          <a:ln w="12700">
            <a:solidFill>
              <a:srgbClr val="161320"/>
            </a:solidFill>
            <a:prstDash val="solid"/>
          </a:ln>
        </p:spPr>
      </p:sp>
      <p:pic>
        <p:nvPicPr>
          <p:cNvPr id="11" name="Image 1" descr="preencoded.png">    </p:cNvPr>
          <p:cNvPicPr>
            <a:picLocks noChangeAspect="1"/>
          </p:cNvPicPr>
          <p:nvPr/>
        </p:nvPicPr>
        <p:blipFill>
          <a:blip r:embed="rId2"/>
          <a:stretch>
            <a:fillRect/>
          </a:stretch>
        </p:blipFill>
        <p:spPr>
          <a:xfrm>
            <a:off x="5052060" y="1714500"/>
            <a:ext cx="228600" cy="228600"/>
          </a:xfrm>
          <a:prstGeom prst="rect">
            <a:avLst/>
          </a:prstGeom>
        </p:spPr>
      </p:pic>
      <p:sp>
        <p:nvSpPr>
          <p:cNvPr id="12" name="Text 8"/>
          <p:cNvSpPr txBox="1"/>
          <p:nvPr/>
        </p:nvSpPr>
        <p:spPr>
          <a:xfrm>
            <a:off x="5532120" y="1572768"/>
            <a:ext cx="3017520" cy="365760"/>
          </a:xfrm>
          <a:prstGeom prst="rect">
            <a:avLst/>
          </a:prstGeom>
          <a:noFill/>
          <a:ln/>
        </p:spPr>
        <p:txBody>
          <a:bodyPr wrap="square" lIns="0" tIns="0" rIns="0" bIns="0" rtlCol="0" anchor="ctr"/>
          <a:lstStyle/>
          <a:p>
            <a:pPr indent="0" marL="0">
              <a:buNone/>
            </a:pPr>
            <a:r>
              <a:rPr lang="en-US" sz="1500" b="1" dirty="0">
                <a:solidFill>
                  <a:srgbClr val="F6E6CB"/>
                </a:solidFill>
                <a:latin typeface="Cambria" pitchFamily="34" charset="0"/>
                <a:ea typeface="Cambria" pitchFamily="34" charset="-122"/>
                <a:cs typeface="Cambria" pitchFamily="34" charset="-120"/>
              </a:rPr>
              <a:t>Tunneling</a:t>
            </a:r>
            <a:endParaRPr lang="en-US" sz="1500" dirty="0"/>
          </a:p>
        </p:txBody>
      </p:sp>
      <p:sp>
        <p:nvSpPr>
          <p:cNvPr id="13" name="Text 9"/>
          <p:cNvSpPr txBox="1"/>
          <p:nvPr/>
        </p:nvSpPr>
        <p:spPr>
          <a:xfrm>
            <a:off x="5532120" y="1938528"/>
            <a:ext cx="2971800" cy="868680"/>
          </a:xfrm>
          <a:prstGeom prst="rect">
            <a:avLst/>
          </a:prstGeom>
          <a:noFill/>
          <a:ln/>
        </p:spPr>
        <p:txBody>
          <a:bodyPr wrap="square" lIns="0" tIns="0" rIns="0" bIns="0" rtlCol="0" anchor="t"/>
          <a:lstStyle/>
          <a:p>
            <a:pPr indent="0" marL="0">
              <a:buNone/>
            </a:pPr>
            <a:r>
              <a:rPr lang="en-US" sz="1150" dirty="0">
                <a:solidFill>
                  <a:srgbClr val="B9AFA3"/>
                </a:solidFill>
                <a:latin typeface="Calibri" pitchFamily="34" charset="0"/>
                <a:ea typeface="Calibri" pitchFamily="34" charset="-122"/>
                <a:cs typeface="Calibri" pitchFamily="34" charset="-120"/>
              </a:rPr>
              <a:t>A mug swatted at 12 m/s passing through a 2 cm shelf. Substeps + a swept test, gated by speed, traded against frame rate.</a:t>
            </a:r>
            <a:endParaRPr lang="en-US" sz="1150" dirty="0"/>
          </a:p>
        </p:txBody>
      </p:sp>
      <p:sp>
        <p:nvSpPr>
          <p:cNvPr id="14" name="Shape 10"/>
          <p:cNvSpPr/>
          <p:nvPr/>
        </p:nvSpPr>
        <p:spPr>
          <a:xfrm>
            <a:off x="457200" y="3063240"/>
            <a:ext cx="3977640" cy="1508760"/>
          </a:xfrm>
          <a:prstGeom prst="roundRect">
            <a:avLst>
              <a:gd name="adj" fmla="val 7273"/>
            </a:avLst>
          </a:prstGeom>
          <a:solidFill>
            <a:srgbClr val="221D2E"/>
          </a:solidFill>
          <a:ln w="12700">
            <a:solidFill>
              <a:srgbClr val="221D2E"/>
            </a:solidFill>
            <a:prstDash val="solid"/>
          </a:ln>
        </p:spPr>
      </p:sp>
      <p:sp>
        <p:nvSpPr>
          <p:cNvPr id="15" name="Shape 11"/>
          <p:cNvSpPr/>
          <p:nvPr/>
        </p:nvSpPr>
        <p:spPr>
          <a:xfrm>
            <a:off x="685800" y="3291840"/>
            <a:ext cx="457200" cy="457200"/>
          </a:xfrm>
          <a:prstGeom prst="ellipse">
            <a:avLst/>
          </a:prstGeom>
          <a:solidFill>
            <a:srgbClr val="161320"/>
          </a:solidFill>
          <a:ln w="12700">
            <a:solidFill>
              <a:srgbClr val="161320"/>
            </a:solidFill>
            <a:prstDash val="solid"/>
          </a:ln>
        </p:spPr>
      </p:sp>
      <p:pic>
        <p:nvPicPr>
          <p:cNvPr id="16" name="Image 2" descr="preencoded.png">    </p:cNvPr>
          <p:cNvPicPr>
            <a:picLocks noChangeAspect="1"/>
          </p:cNvPicPr>
          <p:nvPr/>
        </p:nvPicPr>
        <p:blipFill>
          <a:blip r:embed="rId3"/>
          <a:stretch>
            <a:fillRect/>
          </a:stretch>
        </p:blipFill>
        <p:spPr>
          <a:xfrm>
            <a:off x="800100" y="3406140"/>
            <a:ext cx="228600" cy="228600"/>
          </a:xfrm>
          <a:prstGeom prst="rect">
            <a:avLst/>
          </a:prstGeom>
        </p:spPr>
      </p:pic>
      <p:sp>
        <p:nvSpPr>
          <p:cNvPr id="17" name="Text 12"/>
          <p:cNvSpPr txBox="1"/>
          <p:nvPr/>
        </p:nvSpPr>
        <p:spPr>
          <a:xfrm>
            <a:off x="1280160" y="3264408"/>
            <a:ext cx="3017520" cy="365760"/>
          </a:xfrm>
          <a:prstGeom prst="rect">
            <a:avLst/>
          </a:prstGeom>
          <a:noFill/>
          <a:ln/>
        </p:spPr>
        <p:txBody>
          <a:bodyPr wrap="square" lIns="0" tIns="0" rIns="0" bIns="0" rtlCol="0" anchor="ctr"/>
          <a:lstStyle/>
          <a:p>
            <a:pPr indent="0" marL="0">
              <a:buNone/>
            </a:pPr>
            <a:r>
              <a:rPr lang="en-US" sz="1500" b="1" dirty="0">
                <a:solidFill>
                  <a:srgbClr val="F6E6CB"/>
                </a:solidFill>
                <a:latin typeface="Cambria" pitchFamily="34" charset="0"/>
                <a:ea typeface="Cambria" pitchFamily="34" charset="-122"/>
                <a:cs typeface="Cambria" pitchFamily="34" charset="-120"/>
              </a:rPr>
              <a:t>A noise curve that feels fair</a:t>
            </a:r>
            <a:endParaRPr lang="en-US" sz="1500" dirty="0"/>
          </a:p>
        </p:txBody>
      </p:sp>
      <p:sp>
        <p:nvSpPr>
          <p:cNvPr id="18" name="Text 13"/>
          <p:cNvSpPr txBox="1"/>
          <p:nvPr/>
        </p:nvSpPr>
        <p:spPr>
          <a:xfrm>
            <a:off x="1280160" y="3630168"/>
            <a:ext cx="2971800" cy="868680"/>
          </a:xfrm>
          <a:prstGeom prst="rect">
            <a:avLst/>
          </a:prstGeom>
          <a:noFill/>
          <a:ln/>
        </p:spPr>
        <p:txBody>
          <a:bodyPr wrap="square" lIns="0" tIns="0" rIns="0" bIns="0" rtlCol="0" anchor="t"/>
          <a:lstStyle/>
          <a:p>
            <a:pPr indent="0" marL="0">
              <a:buNone/>
            </a:pPr>
            <a:r>
              <a:rPr lang="en-US" sz="1150" dirty="0">
                <a:solidFill>
                  <a:srgbClr val="B9AFA3"/>
                </a:solidFill>
                <a:latin typeface="Calibri" pitchFamily="34" charset="0"/>
                <a:ea typeface="Calibri" pitchFamily="34" charset="-122"/>
                <a:cs typeface="Calibri" pitchFamily="34" charset="-120"/>
              </a:rPr>
              <a:t>Impulse to loudness is easy to code, hard to tune so a mug and a plant feel right and the wake meter feels tense, not random.</a:t>
            </a:r>
            <a:endParaRPr lang="en-US" sz="1150" dirty="0"/>
          </a:p>
        </p:txBody>
      </p:sp>
      <p:sp>
        <p:nvSpPr>
          <p:cNvPr id="19" name="Shape 14"/>
          <p:cNvSpPr/>
          <p:nvPr/>
        </p:nvSpPr>
        <p:spPr>
          <a:xfrm>
            <a:off x="4709160" y="3063240"/>
            <a:ext cx="3977640" cy="1508760"/>
          </a:xfrm>
          <a:prstGeom prst="roundRect">
            <a:avLst>
              <a:gd name="adj" fmla="val 7273"/>
            </a:avLst>
          </a:prstGeom>
          <a:solidFill>
            <a:srgbClr val="221D2E"/>
          </a:solidFill>
          <a:ln w="12700">
            <a:solidFill>
              <a:srgbClr val="221D2E"/>
            </a:solidFill>
            <a:prstDash val="solid"/>
          </a:ln>
        </p:spPr>
      </p:sp>
      <p:sp>
        <p:nvSpPr>
          <p:cNvPr id="20" name="Shape 15"/>
          <p:cNvSpPr/>
          <p:nvPr/>
        </p:nvSpPr>
        <p:spPr>
          <a:xfrm>
            <a:off x="4937760" y="3291840"/>
            <a:ext cx="457200" cy="457200"/>
          </a:xfrm>
          <a:prstGeom prst="ellipse">
            <a:avLst/>
          </a:prstGeom>
          <a:solidFill>
            <a:srgbClr val="161320"/>
          </a:solidFill>
          <a:ln w="12700">
            <a:solidFill>
              <a:srgbClr val="161320"/>
            </a:solidFill>
            <a:prstDash val="solid"/>
          </a:ln>
        </p:spPr>
      </p:sp>
      <p:pic>
        <p:nvPicPr>
          <p:cNvPr id="21" name="Image 3" descr="preencoded.png">    </p:cNvPr>
          <p:cNvPicPr>
            <a:picLocks noChangeAspect="1"/>
          </p:cNvPicPr>
          <p:nvPr/>
        </p:nvPicPr>
        <p:blipFill>
          <a:blip r:embed="rId4"/>
          <a:stretch>
            <a:fillRect/>
          </a:stretch>
        </p:blipFill>
        <p:spPr>
          <a:xfrm>
            <a:off x="5052060" y="3406140"/>
            <a:ext cx="228600" cy="228600"/>
          </a:xfrm>
          <a:prstGeom prst="rect">
            <a:avLst/>
          </a:prstGeom>
        </p:spPr>
      </p:pic>
      <p:sp>
        <p:nvSpPr>
          <p:cNvPr id="22" name="Text 16"/>
          <p:cNvSpPr txBox="1"/>
          <p:nvPr/>
        </p:nvSpPr>
        <p:spPr>
          <a:xfrm>
            <a:off x="5532120" y="3264408"/>
            <a:ext cx="3017520" cy="365760"/>
          </a:xfrm>
          <a:prstGeom prst="rect">
            <a:avLst/>
          </a:prstGeom>
          <a:noFill/>
          <a:ln/>
        </p:spPr>
        <p:txBody>
          <a:bodyPr wrap="square" lIns="0" tIns="0" rIns="0" bIns="0" rtlCol="0" anchor="ctr"/>
          <a:lstStyle/>
          <a:p>
            <a:pPr indent="0" marL="0">
              <a:buNone/>
            </a:pPr>
            <a:r>
              <a:rPr lang="en-US" sz="1500" b="1" dirty="0">
                <a:solidFill>
                  <a:srgbClr val="F6E6CB"/>
                </a:solidFill>
                <a:latin typeface="Cambria" pitchFamily="34" charset="0"/>
                <a:ea typeface="Cambria" pitchFamily="34" charset="-122"/>
                <a:cs typeface="Cambria" pitchFamily="34" charset="-120"/>
              </a:rPr>
              <a:t>An owner that reads as smart</a:t>
            </a:r>
            <a:endParaRPr lang="en-US" sz="1500" dirty="0"/>
          </a:p>
        </p:txBody>
      </p:sp>
      <p:sp>
        <p:nvSpPr>
          <p:cNvPr id="23" name="Text 17"/>
          <p:cNvSpPr txBox="1"/>
          <p:nvPr/>
        </p:nvSpPr>
        <p:spPr>
          <a:xfrm>
            <a:off x="5532120" y="3630168"/>
            <a:ext cx="2971800" cy="868680"/>
          </a:xfrm>
          <a:prstGeom prst="rect">
            <a:avLst/>
          </a:prstGeom>
          <a:noFill/>
          <a:ln/>
        </p:spPr>
        <p:txBody>
          <a:bodyPr wrap="square" lIns="0" tIns="0" rIns="0" bIns="0" rtlCol="0" anchor="t"/>
          <a:lstStyle/>
          <a:p>
            <a:pPr indent="0" marL="0">
              <a:buNone/>
            </a:pPr>
            <a:r>
              <a:rPr lang="en-US" sz="1150" dirty="0">
                <a:solidFill>
                  <a:srgbClr val="B9AFA3"/>
                </a:solidFill>
                <a:latin typeface="Calibri" pitchFamily="34" charset="0"/>
                <a:ea typeface="Calibri" pitchFamily="34" charset="-122"/>
                <a:cs typeface="Calibri" pitchFamily="34" charset="-120"/>
              </a:rPr>
              <a:t>A behavior tree is trivial. One that searches believably and still gives the cat a fair chance takes playtesting.</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1613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F6E6CB"/>
                </a:solidFill>
                <a:latin typeface="Cambria" pitchFamily="34" charset="0"/>
                <a:ea typeface="Cambria" pitchFamily="34" charset="-122"/>
                <a:cs typeface="Cambria" pitchFamily="34" charset="-120"/>
              </a:rPr>
              <a:t>The goal: a 3D isometric room</a:t>
            </a:r>
            <a:endParaRPr lang="en-US" sz="3200" dirty="0"/>
          </a:p>
        </p:txBody>
      </p:sp>
      <p:pic>
        <p:nvPicPr>
          <p:cNvPr id="3" name="Image 0" descr="Concept art: isometric bedroom at 3 a.m. with the cat on the desk and the owner asleep">    </p:cNvPr>
          <p:cNvPicPr>
            <a:picLocks noChangeAspect="1"/>
          </p:cNvPicPr>
          <p:nvPr/>
        </p:nvPicPr>
        <p:blipFill>
          <a:blip r:embed="rId1"/>
          <a:stretch>
            <a:fillRect/>
          </a:stretch>
        </p:blipFill>
        <p:spPr>
          <a:xfrm>
            <a:off x="4754880" y="1143000"/>
            <a:ext cx="3931920" cy="2241720"/>
          </a:xfrm>
          <a:prstGeom prst="rect">
            <a:avLst/>
          </a:prstGeom>
        </p:spPr>
      </p:pic>
      <p:sp>
        <p:nvSpPr>
          <p:cNvPr id="4" name="Text 1"/>
          <p:cNvSpPr txBox="1"/>
          <p:nvPr/>
        </p:nvSpPr>
        <p:spPr>
          <a:xfrm>
            <a:off x="457200" y="1143000"/>
            <a:ext cx="4023360" cy="457200"/>
          </a:xfrm>
          <a:prstGeom prst="rect">
            <a:avLst/>
          </a:prstGeom>
          <a:noFill/>
          <a:ln/>
        </p:spPr>
        <p:txBody>
          <a:bodyPr wrap="square" lIns="0" tIns="0" rIns="0" bIns="0" rtlCol="0" anchor="ctr"/>
          <a:lstStyle/>
          <a:p>
            <a:pPr indent="0" marL="0">
              <a:buNone/>
            </a:pPr>
            <a:r>
              <a:rPr lang="en-US" sz="1500" b="1" dirty="0">
                <a:solidFill>
                  <a:srgbClr val="E8A33C"/>
                </a:solidFill>
                <a:latin typeface="Calibri" pitchFamily="34" charset="0"/>
                <a:ea typeface="Calibri" pitchFamily="34" charset="-122"/>
                <a:cs typeface="Calibri" pitchFamily="34" charset="-120"/>
              </a:rPr>
              <a:t>Same loop and pillars, built in Three.js + cannon-es</a:t>
            </a:r>
            <a:endParaRPr lang="en-US" sz="1500" dirty="0"/>
          </a:p>
        </p:txBody>
      </p:sp>
      <p:sp>
        <p:nvSpPr>
          <p:cNvPr id="5" name="Text 2"/>
          <p:cNvSpPr txBox="1"/>
          <p:nvPr/>
        </p:nvSpPr>
        <p:spPr>
          <a:xfrm>
            <a:off x="457200" y="1691640"/>
            <a:ext cx="4023360" cy="365760"/>
          </a:xfrm>
          <a:prstGeom prst="rect">
            <a:avLst/>
          </a:prstGeom>
          <a:noFill/>
          <a:ln/>
        </p:spPr>
        <p:txBody>
          <a:bodyPr wrap="square" lIns="0" tIns="0" rIns="0" bIns="0" rtlCol="0" anchor="ctr"/>
          <a:lstStyle/>
          <a:p>
            <a:pPr indent="0" marL="0">
              <a:buNone/>
            </a:pPr>
            <a:r>
              <a:rPr lang="en-US" sz="1600" b="1" dirty="0">
                <a:solidFill>
                  <a:srgbClr val="F6E6CB"/>
                </a:solidFill>
                <a:latin typeface="Cambria" pitchFamily="34" charset="0"/>
                <a:ea typeface="Cambria" pitchFamily="34" charset="-122"/>
                <a:cs typeface="Cambria" pitchFamily="34" charset="-120"/>
              </a:rPr>
              <a:t>What changes in 3D</a:t>
            </a:r>
            <a:endParaRPr lang="en-US" sz="1600" dirty="0"/>
          </a:p>
        </p:txBody>
      </p:sp>
      <p:sp>
        <p:nvSpPr>
          <p:cNvPr id="6" name="Shape 3"/>
          <p:cNvSpPr/>
          <p:nvPr/>
        </p:nvSpPr>
        <p:spPr>
          <a:xfrm>
            <a:off x="457200" y="2148840"/>
            <a:ext cx="384048" cy="384048"/>
          </a:xfrm>
          <a:prstGeom prst="ellipse">
            <a:avLst/>
          </a:prstGeom>
          <a:solidFill>
            <a:srgbClr val="221D2E"/>
          </a:solidFill>
          <a:ln w="12700">
            <a:solidFill>
              <a:srgbClr val="221D2E"/>
            </a:solidFill>
            <a:prstDash val="solid"/>
          </a:ln>
        </p:spPr>
      </p:sp>
      <p:pic>
        <p:nvPicPr>
          <p:cNvPr id="7" name="Image 1" descr="preencoded.png">    </p:cNvPr>
          <p:cNvPicPr>
            <a:picLocks noChangeAspect="1"/>
          </p:cNvPicPr>
          <p:nvPr/>
        </p:nvPicPr>
        <p:blipFill>
          <a:blip r:embed="rId3"/>
          <a:stretch>
            <a:fillRect/>
          </a:stretch>
        </p:blipFill>
        <p:spPr>
          <a:xfrm>
            <a:off x="553212" y="2244852"/>
            <a:ext cx="192024" cy="192024"/>
          </a:xfrm>
          <a:prstGeom prst="rect">
            <a:avLst/>
          </a:prstGeom>
        </p:spPr>
      </p:pic>
      <p:sp>
        <p:nvSpPr>
          <p:cNvPr id="8" name="Text 4"/>
          <p:cNvSpPr txBox="1"/>
          <p:nvPr/>
        </p:nvSpPr>
        <p:spPr>
          <a:xfrm>
            <a:off x="960120" y="2130552"/>
            <a:ext cx="3566160" cy="457200"/>
          </a:xfrm>
          <a:prstGeom prst="rect">
            <a:avLst/>
          </a:prstGeom>
          <a:noFill/>
          <a:ln/>
        </p:spPr>
        <p:txBody>
          <a:bodyPr wrap="square" lIns="0" tIns="0" rIns="0" bIns="0" rtlCol="0" anchor="ctr"/>
          <a:lstStyle/>
          <a:p>
            <a:pPr indent="0" marL="0">
              <a:buNone/>
            </a:pPr>
            <a:r>
              <a:rPr lang="en-US" sz="1300" dirty="0">
                <a:solidFill>
                  <a:srgbClr val="F6E6CB"/>
                </a:solidFill>
                <a:latin typeface="Calibri" pitchFamily="34" charset="0"/>
                <a:ea typeface="Calibri" pitchFamily="34" charset="-122"/>
                <a:cs typeface="Calibri" pitchFamily="34" charset="-120"/>
              </a:rPr>
              <a:t>Fixed isometric camera over a cut-away room</a:t>
            </a:r>
            <a:endParaRPr lang="en-US" sz="1300" dirty="0"/>
          </a:p>
        </p:txBody>
      </p:sp>
      <p:sp>
        <p:nvSpPr>
          <p:cNvPr id="9" name="Shape 5"/>
          <p:cNvSpPr/>
          <p:nvPr/>
        </p:nvSpPr>
        <p:spPr>
          <a:xfrm>
            <a:off x="457200" y="2715768"/>
            <a:ext cx="384048" cy="384048"/>
          </a:xfrm>
          <a:prstGeom prst="ellipse">
            <a:avLst/>
          </a:prstGeom>
          <a:solidFill>
            <a:srgbClr val="221D2E"/>
          </a:solidFill>
          <a:ln w="12700">
            <a:solidFill>
              <a:srgbClr val="221D2E"/>
            </a:solidFill>
            <a:prstDash val="solid"/>
          </a:ln>
        </p:spPr>
      </p:sp>
      <p:pic>
        <p:nvPicPr>
          <p:cNvPr id="10" name="Image 2" descr="preencoded.png">    </p:cNvPr>
          <p:cNvPicPr>
            <a:picLocks noChangeAspect="1"/>
          </p:cNvPicPr>
          <p:nvPr/>
        </p:nvPicPr>
        <p:blipFill>
          <a:blip r:embed="rId4"/>
          <a:stretch>
            <a:fillRect/>
          </a:stretch>
        </p:blipFill>
        <p:spPr>
          <a:xfrm>
            <a:off x="553212" y="2811780"/>
            <a:ext cx="192024" cy="192024"/>
          </a:xfrm>
          <a:prstGeom prst="rect">
            <a:avLst/>
          </a:prstGeom>
        </p:spPr>
      </p:pic>
      <p:sp>
        <p:nvSpPr>
          <p:cNvPr id="11" name="Text 6"/>
          <p:cNvSpPr txBox="1"/>
          <p:nvPr/>
        </p:nvSpPr>
        <p:spPr>
          <a:xfrm>
            <a:off x="960120" y="2697480"/>
            <a:ext cx="3566160" cy="457200"/>
          </a:xfrm>
          <a:prstGeom prst="rect">
            <a:avLst/>
          </a:prstGeom>
          <a:noFill/>
          <a:ln/>
        </p:spPr>
        <p:txBody>
          <a:bodyPr wrap="square" lIns="0" tIns="0" rIns="0" bIns="0" rtlCol="0" anchor="ctr"/>
          <a:lstStyle/>
          <a:p>
            <a:pPr indent="0" marL="0">
              <a:buNone/>
            </a:pPr>
            <a:r>
              <a:rPr lang="en-US" sz="1300" dirty="0">
                <a:solidFill>
                  <a:srgbClr val="F6E6CB"/>
                </a:solidFill>
                <a:latin typeface="Calibri" pitchFamily="34" charset="0"/>
                <a:ea typeface="Calibri" pitchFamily="34" charset="-122"/>
                <a:cs typeface="Calibri" pitchFamily="34" charset="-120"/>
              </a:rPr>
              <a:t>Detailed 3D props rendered over simple colliders we author</a:t>
            </a:r>
            <a:endParaRPr lang="en-US" sz="1300" dirty="0"/>
          </a:p>
        </p:txBody>
      </p:sp>
      <p:sp>
        <p:nvSpPr>
          <p:cNvPr id="12" name="Shape 7"/>
          <p:cNvSpPr/>
          <p:nvPr/>
        </p:nvSpPr>
        <p:spPr>
          <a:xfrm>
            <a:off x="457200" y="3282696"/>
            <a:ext cx="384048" cy="384048"/>
          </a:xfrm>
          <a:prstGeom prst="ellipse">
            <a:avLst/>
          </a:prstGeom>
          <a:solidFill>
            <a:srgbClr val="221D2E"/>
          </a:solidFill>
          <a:ln w="12700">
            <a:solidFill>
              <a:srgbClr val="221D2E"/>
            </a:solidFill>
            <a:prstDash val="solid"/>
          </a:ln>
        </p:spPr>
      </p:sp>
      <p:pic>
        <p:nvPicPr>
          <p:cNvPr id="13" name="Image 3" descr="preencoded.png">    </p:cNvPr>
          <p:cNvPicPr>
            <a:picLocks noChangeAspect="1"/>
          </p:cNvPicPr>
          <p:nvPr/>
        </p:nvPicPr>
        <p:blipFill>
          <a:blip r:embed="rId5"/>
          <a:stretch>
            <a:fillRect/>
          </a:stretch>
        </p:blipFill>
        <p:spPr>
          <a:xfrm>
            <a:off x="553212" y="3378708"/>
            <a:ext cx="192024" cy="192024"/>
          </a:xfrm>
          <a:prstGeom prst="rect">
            <a:avLst/>
          </a:prstGeom>
        </p:spPr>
      </p:pic>
      <p:sp>
        <p:nvSpPr>
          <p:cNvPr id="14" name="Text 8"/>
          <p:cNvSpPr txBox="1"/>
          <p:nvPr/>
        </p:nvSpPr>
        <p:spPr>
          <a:xfrm>
            <a:off x="960120" y="3264408"/>
            <a:ext cx="3566160" cy="457200"/>
          </a:xfrm>
          <a:prstGeom prst="rect">
            <a:avLst/>
          </a:prstGeom>
          <a:noFill/>
          <a:ln/>
        </p:spPr>
        <p:txBody>
          <a:bodyPr wrap="square" lIns="0" tIns="0" rIns="0" bIns="0" rtlCol="0" anchor="ctr"/>
          <a:lstStyle/>
          <a:p>
            <a:pPr indent="0" marL="0">
              <a:buNone/>
            </a:pPr>
            <a:r>
              <a:rPr lang="en-US" sz="1300" dirty="0">
                <a:solidFill>
                  <a:srgbClr val="F6E6CB"/>
                </a:solidFill>
                <a:latin typeface="Calibri" pitchFamily="34" charset="0"/>
                <a:ea typeface="Calibri" pitchFamily="34" charset="-122"/>
                <a:cs typeface="Calibri" pitchFamily="34" charset="-120"/>
              </a:rPr>
              <a:t>Night lighting: warm desk lamp + cool moonlight, baked in Blender</a:t>
            </a:r>
            <a:endParaRPr lang="en-US" sz="1300" dirty="0"/>
          </a:p>
        </p:txBody>
      </p:sp>
      <p:sp>
        <p:nvSpPr>
          <p:cNvPr id="15" name="Shape 9"/>
          <p:cNvSpPr/>
          <p:nvPr/>
        </p:nvSpPr>
        <p:spPr>
          <a:xfrm>
            <a:off x="457200" y="3849624"/>
            <a:ext cx="384048" cy="384048"/>
          </a:xfrm>
          <a:prstGeom prst="ellipse">
            <a:avLst/>
          </a:prstGeom>
          <a:solidFill>
            <a:srgbClr val="221D2E"/>
          </a:solidFill>
          <a:ln w="12700">
            <a:solidFill>
              <a:srgbClr val="221D2E"/>
            </a:solidFill>
            <a:prstDash val="solid"/>
          </a:ln>
        </p:spPr>
      </p:sp>
      <p:pic>
        <p:nvPicPr>
          <p:cNvPr id="16" name="Image 4" descr="preencoded.png">    </p:cNvPr>
          <p:cNvPicPr>
            <a:picLocks noChangeAspect="1"/>
          </p:cNvPicPr>
          <p:nvPr/>
        </p:nvPicPr>
        <p:blipFill>
          <a:blip r:embed="rId6"/>
          <a:stretch>
            <a:fillRect/>
          </a:stretch>
        </p:blipFill>
        <p:spPr>
          <a:xfrm>
            <a:off x="553212" y="3945636"/>
            <a:ext cx="192024" cy="192024"/>
          </a:xfrm>
          <a:prstGeom prst="rect">
            <a:avLst/>
          </a:prstGeom>
        </p:spPr>
      </p:pic>
      <p:sp>
        <p:nvSpPr>
          <p:cNvPr id="17" name="Text 10"/>
          <p:cNvSpPr txBox="1"/>
          <p:nvPr/>
        </p:nvSpPr>
        <p:spPr>
          <a:xfrm>
            <a:off x="960120" y="3831336"/>
            <a:ext cx="3566160" cy="457200"/>
          </a:xfrm>
          <a:prstGeom prst="rect">
            <a:avLst/>
          </a:prstGeom>
          <a:noFill/>
          <a:ln/>
        </p:spPr>
        <p:txBody>
          <a:bodyPr wrap="square" lIns="0" tIns="0" rIns="0" bIns="0" rtlCol="0" anchor="ctr"/>
          <a:lstStyle/>
          <a:p>
            <a:pPr indent="0" marL="0">
              <a:buNone/>
            </a:pPr>
            <a:r>
              <a:rPr lang="en-US" sz="1300" dirty="0">
                <a:solidFill>
                  <a:srgbClr val="F6E6CB"/>
                </a:solidFill>
                <a:latin typeface="Calibri" pitchFamily="34" charset="0"/>
                <a:ea typeface="Calibri" pitchFamily="34" charset="-122"/>
                <a:cs typeface="Calibri" pitchFamily="34" charset="-120"/>
              </a:rPr>
              <a:t>An outline keeps the cat visible when it hides under furniture</a:t>
            </a:r>
            <a:endParaRPr lang="en-US" sz="1300" dirty="0"/>
          </a:p>
        </p:txBody>
      </p:sp>
      <p:sp>
        <p:nvSpPr>
          <p:cNvPr id="18" name="Text 11"/>
          <p:cNvSpPr txBox="1"/>
          <p:nvPr/>
        </p:nvSpPr>
        <p:spPr>
          <a:xfrm>
            <a:off x="4754880" y="3474720"/>
            <a:ext cx="3931920" cy="548640"/>
          </a:xfrm>
          <a:prstGeom prst="rect">
            <a:avLst/>
          </a:prstGeom>
          <a:noFill/>
          <a:ln/>
        </p:spPr>
        <p:txBody>
          <a:bodyPr wrap="square" lIns="0" tIns="0" rIns="0" bIns="0" rtlCol="0" anchor="ctr"/>
          <a:lstStyle/>
          <a:p>
            <a:pPr indent="0" marL="0">
              <a:buNone/>
            </a:pPr>
            <a:r>
              <a:rPr lang="en-US" sz="1100" i="1" dirty="0">
                <a:solidFill>
                  <a:srgbClr val="B9AFA3"/>
                </a:solidFill>
                <a:latin typeface="Calibri" pitchFamily="34" charset="0"/>
                <a:ea typeface="Calibri" pitchFamily="34" charset="-122"/>
                <a:cs typeface="Calibri" pitchFamily="34" charset="-120"/>
              </a:rPr>
              <a:t>Concept art of our target: the room at 3 a.m., owner asleep, cat on the desk, one mug already falling.</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1613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F6E6CB"/>
                </a:solidFill>
                <a:latin typeface="Cambria" pitchFamily="34" charset="0"/>
                <a:ea typeface="Cambria" pitchFamily="34" charset="-122"/>
                <a:cs typeface="Cambria" pitchFamily="34" charset="-120"/>
              </a:rPr>
              <a:t>The 3D plan: our vertical slice</a:t>
            </a:r>
            <a:endParaRPr lang="en-US" sz="3200" dirty="0"/>
          </a:p>
        </p:txBody>
      </p:sp>
      <p:sp>
        <p:nvSpPr>
          <p:cNvPr id="3" name="Text 1"/>
          <p:cNvSpPr txBox="1"/>
          <p:nvPr/>
        </p:nvSpPr>
        <p:spPr>
          <a:xfrm>
            <a:off x="457200" y="1005840"/>
            <a:ext cx="8229600" cy="365760"/>
          </a:xfrm>
          <a:prstGeom prst="rect">
            <a:avLst/>
          </a:prstGeom>
          <a:noFill/>
          <a:ln/>
        </p:spPr>
        <p:txBody>
          <a:bodyPr wrap="square" lIns="0" tIns="0" rIns="0" bIns="0" rtlCol="0" anchor="ctr"/>
          <a:lstStyle/>
          <a:p>
            <a:pPr indent="0" marL="0">
              <a:buNone/>
            </a:pPr>
            <a:r>
              <a:rPr lang="en-US" sz="1500" dirty="0">
                <a:solidFill>
                  <a:srgbClr val="E8A33C"/>
                </a:solidFill>
                <a:latin typeface="Calibri" pitchFamily="34" charset="0"/>
                <a:ea typeface="Calibri" pitchFamily="34" charset="-122"/>
                <a:cs typeface="Calibri" pitchFamily="34" charset="-120"/>
              </a:rPr>
              <a:t>Narrow on purpose: the physics-to-AI path working cleanly in 3D</a:t>
            </a:r>
            <a:endParaRPr lang="en-US" sz="1500" dirty="0"/>
          </a:p>
        </p:txBody>
      </p:sp>
      <p:sp>
        <p:nvSpPr>
          <p:cNvPr id="4" name="Shape 2"/>
          <p:cNvSpPr/>
          <p:nvPr/>
        </p:nvSpPr>
        <p:spPr>
          <a:xfrm>
            <a:off x="457200" y="1554480"/>
            <a:ext cx="3977640" cy="3108960"/>
          </a:xfrm>
          <a:prstGeom prst="roundRect">
            <a:avLst>
              <a:gd name="adj" fmla="val 3529"/>
            </a:avLst>
          </a:prstGeom>
          <a:solidFill>
            <a:srgbClr val="221D2E"/>
          </a:solidFill>
          <a:ln w="12700">
            <a:solidFill>
              <a:srgbClr val="221D2E"/>
            </a:solidFill>
            <a:prstDash val="solid"/>
          </a:ln>
        </p:spPr>
      </p:sp>
      <p:sp>
        <p:nvSpPr>
          <p:cNvPr id="5" name="Text 3"/>
          <p:cNvSpPr txBox="1"/>
          <p:nvPr/>
        </p:nvSpPr>
        <p:spPr>
          <a:xfrm>
            <a:off x="731520" y="1737360"/>
            <a:ext cx="3474720" cy="365760"/>
          </a:xfrm>
          <a:prstGeom prst="rect">
            <a:avLst/>
          </a:prstGeom>
          <a:noFill/>
          <a:ln/>
        </p:spPr>
        <p:txBody>
          <a:bodyPr wrap="square" lIns="0" tIns="0" rIns="0" bIns="0" rtlCol="0" anchor="ctr"/>
          <a:lstStyle/>
          <a:p>
            <a:pPr indent="0" marL="0">
              <a:buNone/>
            </a:pPr>
            <a:r>
              <a:rPr lang="en-US" sz="1700" b="1" dirty="0">
                <a:solidFill>
                  <a:srgbClr val="8FB3E6"/>
                </a:solidFill>
                <a:latin typeface="Cambria" pitchFamily="34" charset="0"/>
                <a:ea typeface="Cambria" pitchFamily="34" charset="-122"/>
                <a:cs typeface="Cambria" pitchFamily="34" charset="-120"/>
              </a:rPr>
              <a:t>In the 3D slice</a:t>
            </a:r>
            <a:endParaRPr lang="en-US" sz="1700" dirty="0"/>
          </a:p>
        </p:txBody>
      </p:sp>
      <p:sp>
        <p:nvSpPr>
          <p:cNvPr id="6" name="Text 4"/>
          <p:cNvSpPr txBox="1"/>
          <p:nvPr/>
        </p:nvSpPr>
        <p:spPr>
          <a:xfrm>
            <a:off x="731520" y="2194560"/>
            <a:ext cx="347472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One desk against a wall, and the bed with the sleeping owner</a:t>
            </a:r>
            <a:endParaRPr lang="en-US" sz="1300" dirty="0"/>
          </a:p>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A stack of five plates, two mugs and a book</a:t>
            </a:r>
            <a:endParaRPr lang="en-US" sz="1300" dirty="0"/>
          </a:p>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The cat walks, jumps onto the desk and swats</a:t>
            </a:r>
            <a:endParaRPr lang="en-US" sz="1300" dirty="0"/>
          </a:p>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Every impact makes noise and fills the wake meter</a:t>
            </a:r>
            <a:endParaRPr lang="en-US" sz="1300" dirty="0"/>
          </a:p>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The owner stirs, sits up and stands</a:t>
            </a:r>
            <a:endParaRPr lang="en-US" sz="1300" dirty="0"/>
          </a:p>
        </p:txBody>
      </p:sp>
      <p:sp>
        <p:nvSpPr>
          <p:cNvPr id="7" name="Shape 5"/>
          <p:cNvSpPr/>
          <p:nvPr/>
        </p:nvSpPr>
        <p:spPr>
          <a:xfrm>
            <a:off x="4709160" y="1554480"/>
            <a:ext cx="3977640" cy="3108960"/>
          </a:xfrm>
          <a:prstGeom prst="roundRect">
            <a:avLst>
              <a:gd name="adj" fmla="val 3529"/>
            </a:avLst>
          </a:prstGeom>
          <a:solidFill>
            <a:srgbClr val="221D2E"/>
          </a:solidFill>
          <a:ln w="12700">
            <a:solidFill>
              <a:srgbClr val="221D2E"/>
            </a:solidFill>
            <a:prstDash val="solid"/>
          </a:ln>
        </p:spPr>
      </p:sp>
      <p:sp>
        <p:nvSpPr>
          <p:cNvPr id="8" name="Text 6"/>
          <p:cNvSpPr txBox="1"/>
          <p:nvPr/>
        </p:nvSpPr>
        <p:spPr>
          <a:xfrm>
            <a:off x="4983480" y="1737360"/>
            <a:ext cx="3474720" cy="365760"/>
          </a:xfrm>
          <a:prstGeom prst="rect">
            <a:avLst/>
          </a:prstGeom>
          <a:noFill/>
          <a:ln/>
        </p:spPr>
        <p:txBody>
          <a:bodyPr wrap="square" lIns="0" tIns="0" rIns="0" bIns="0" rtlCol="0" anchor="ctr"/>
          <a:lstStyle/>
          <a:p>
            <a:pPr indent="0" marL="0">
              <a:buNone/>
            </a:pPr>
            <a:r>
              <a:rPr lang="en-US" sz="1700" b="1" dirty="0">
                <a:solidFill>
                  <a:srgbClr val="E8A33C"/>
                </a:solidFill>
                <a:latin typeface="Cambria" pitchFamily="34" charset="0"/>
                <a:ea typeface="Cambria" pitchFamily="34" charset="-122"/>
                <a:cs typeface="Cambria" pitchFamily="34" charset="-120"/>
              </a:rPr>
              <a:t>How we prove it by mid-term</a:t>
            </a:r>
            <a:endParaRPr lang="en-US" sz="1700" dirty="0"/>
          </a:p>
        </p:txBody>
      </p:sp>
      <p:sp>
        <p:nvSpPr>
          <p:cNvPr id="9" name="Text 7"/>
          <p:cNvSpPr txBox="1"/>
          <p:nvPr/>
        </p:nvSpPr>
        <p:spPr>
          <a:xfrm>
            <a:off x="4983480" y="2194560"/>
            <a:ext cx="347472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Stacking: five plates at rest for 60 s, under 2 mm penetration and 5 mm drift</a:t>
            </a:r>
            <a:endParaRPr lang="en-US" sz="1300" dirty="0"/>
          </a:p>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Tunneling: 100 swats at 12 m/s into a 2 cm shelf, zero pass-throughs</a:t>
            </a:r>
            <a:endParaRPr lang="en-US" sz="1300" dirty="0"/>
          </a:p>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Coupling: a swat by the bed wakes him; from the far wall it does not</a:t>
            </a:r>
            <a:endParaRPr lang="en-US" sz="1300" dirty="0"/>
          </a:p>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All at 60 FPS, read off our debug overlay</a:t>
            </a:r>
            <a:endParaRPr lang="en-US" sz="1300" dirty="0"/>
          </a:p>
          <a:p>
            <a:pPr marL="342900" indent="-342900">
              <a:spcAft>
                <a:spcPts val="600"/>
              </a:spcAft>
              <a:buSzPct val="100000"/>
              <a:buChar char="•"/>
            </a:pPr>
            <a:r>
              <a:rPr lang="en-US" sz="1300" dirty="0">
                <a:solidFill>
                  <a:srgbClr val="F6E6CB"/>
                </a:solidFill>
                <a:latin typeface="Calibri" pitchFamily="34" charset="0"/>
                <a:ea typeface="Calibri" pitchFamily="34" charset="-122"/>
                <a:cs typeface="Calibri" pitchFamily="34" charset="-120"/>
              </a:rPr>
              <a:t>After the mid-term: search AI, hiding, full room, polish</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Group Last One Awake</dc:creator>
  <cp:lastModifiedBy>Group Last One Awake</cp:lastModifiedBy>
  <cp:revision>1</cp:revision>
  <dcterms:created xsi:type="dcterms:W3CDTF">2026-09-22T01:08:18Z</dcterms:created>
  <dcterms:modified xsi:type="dcterms:W3CDTF">2026-09-22T01:08:18Z</dcterms:modified>
</cp:coreProperties>
</file>